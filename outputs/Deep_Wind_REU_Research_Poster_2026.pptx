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a9e7dc3fb84882" /><Relationship Type="http://schemas.openxmlformats.org/officeDocument/2006/relationships/extended-properties" Target="/docProps/app.xml" Id="R1e77a2d29fa54879" /><Relationship Type="http://schemas.openxmlformats.org/officeDocument/2006/relationships/officeDocument" Target="/ppt/presentation.xml" Id="R5fee18771a7242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1f5c9add1544a4"/>
  </p:sldMasterIdLst>
  <p:notesMasterIdLst>
    <p:notesMasterId xmlns:r="http://schemas.openxmlformats.org/officeDocument/2006/relationships" r:id="Rdc8e59d4a2514737"/>
  </p:notesMasterIdLst>
  <p:sldIdLst>
    <p:sldId xmlns:r="http://schemas.openxmlformats.org/officeDocument/2006/relationships" id="256" r:id="Rc99c7e00d7ca4b17"/>
  </p:sldIdLst>
  <p:sldSz cx="18288000" cy="2743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9bf3f98648439e" /><Relationship Type="http://schemas.openxmlformats.org/officeDocument/2006/relationships/slideMaster" Target="/ppt/slideMasters/slideMaster1.xml" Id="R2b1f5c9add1544a4" /><Relationship Type="http://schemas.openxmlformats.org/officeDocument/2006/relationships/notesMaster" Target="/ppt/notesMasters/notesMaster1.xml" Id="Rdc8e59d4a2514737" /><Relationship Type="http://schemas.openxmlformats.org/officeDocument/2006/relationships/presProps" Target="/ppt/presProps.xml" Id="Rb3a3cad259cc4d42" /><Relationship Type="http://schemas.openxmlformats.org/officeDocument/2006/relationships/tableStyles" Target="/ppt/tableStyles.xml" Id="Rd10cc8349a3748f0" /><Relationship Type="http://schemas.openxmlformats.org/officeDocument/2006/relationships/slide" Target="/ppt/slides/slide1.xml" Id="Rc99c7e00d7ca4b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fe1c2e25b84c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30e8d1b3f74ab4" /><Relationship Type="http://schemas.openxmlformats.org/officeDocument/2006/relationships/notesMaster" Target="/ppt/notesMasters/notesMaster1.xml" Id="R27cdc99c928646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1d944ec1741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279fd0c45a4079" /><Relationship Type="http://schemas.openxmlformats.org/officeDocument/2006/relationships/slideLayout" Target="/ppt/slideLayouts/slideLayout1.xml" Id="R6283948b559b4d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83948b559b4d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767a8fd3a4572" /><Relationship Type="http://schemas.openxmlformats.org/officeDocument/2006/relationships/image" Target="/ppt/media/image.png" Id="Rd1a47f4784494077" /><Relationship Type="http://schemas.openxmlformats.org/officeDocument/2006/relationships/image" Target="/ppt/media/image2.png" Id="Rd078b672097143e7" /><Relationship Type="http://schemas.openxmlformats.org/officeDocument/2006/relationships/image" Target="/ppt/media/image3.png" Id="R13db865fd2cd4c31" /><Relationship Type="http://schemas.openxmlformats.org/officeDocument/2006/relationships/image" Target="/ppt/media/image4.png" Id="R0091c45d87d1454d" /><Relationship Type="http://schemas.openxmlformats.org/officeDocument/2006/relationships/image" Target="/ppt/media/image5.png" Id="R5f88048f2f0c42ab" /><Relationship Type="http://schemas.openxmlformats.org/officeDocument/2006/relationships/image" Target="/ppt/media/image6.png" Id="R71bd2cad8d7448b7" /><Relationship Type="http://schemas.openxmlformats.org/officeDocument/2006/relationships/image" Target="/ppt/media/image7.png" Id="R05026bbd5ef74d13" /><Relationship Type="http://schemas.openxmlformats.org/officeDocument/2006/relationships/image" Target="/ppt/media/image8.png" Id="R0364c8b2cf64439a" /><Relationship Type="http://schemas.openxmlformats.org/officeDocument/2006/relationships/image" Target="/ppt/media/image9.png" Id="Rcf0ed190f2e84608" /><Relationship Type="http://schemas.openxmlformats.org/officeDocument/2006/relationships/image" Target="/ppt/media/image10.png" Id="Re1e7a47e14464ff8" /><Relationship Type="http://schemas.openxmlformats.org/officeDocument/2006/relationships/notesSlide" Target="/ppt/notesSlides/notesSlide1.xml" Id="R598c26a90b474e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423ED99-6D91-4D8D-8BD0-F4FCA044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5B"/>
          </a:solidFill>
          <a:ln xmlns:a="http://schemas.openxmlformats.org/drawingml/2006/main" w="0">
            <a:solidFill>
              <a:srgbClr val="315F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E8BF2-7A97-4DBD-9685-8833FF6A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1352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Forecast-Aware Rolling-Horizon Optimization for Hybrid Wind-Storage Dispatch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FD97D-04FD-491B-8CE2-185264C4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1FAE5"/>
                </a:solidFill>
              </a:defRPr>
            </a:pPr>
            <a:r>
              <a:rPr sz="1800" b="0">
                <a:solidFill>
                  <a:srgbClr val="D1FAE5"/>
                </a:solidFill>
              </a:rPr>
              <a:t>David Valenta, North Carolina State University  |  Dr. Chris Qin, Washington State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59AAD-0FEC-44A8-9976-77407B1A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35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CFDF5"/>
                </a:solidFill>
              </a:defRPr>
            </a:pPr>
            <a:r>
              <a:rPr sz="1500" b="0">
                <a:solidFill>
                  <a:srgbClr val="ECFDF5"/>
                </a:solidFill>
              </a:rPr>
              <a:t>Summer 2026 REU  |  Pyron wind farm case study  |  ERCOT price data  |  PNNL CAES assumptions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2455E-DC4E-45B8-9AB5-4A763DDC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40005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EF5EF"/>
          </a:solidFill>
          <a:ln xmlns:a="http://schemas.openxmlformats.org/drawingml/2006/main" w="19050">
            <a:solidFill>
              <a:srgbClr val="D6E7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93175-8A27-4010-9779-1160AAA2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552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F5B"/>
                </a:solidFill>
              </a:defRPr>
            </a:pPr>
            <a:r>
              <a:rPr sz="1500" b="1">
                <a:solidFill>
                  <a:srgbClr val="315F5B"/>
                </a:solidFill>
              </a:rPr>
              <a:t>Main 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8CB0F-7470-4306-96C8-D7702C77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8572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4743"/>
                </a:solidFill>
              </a:defRPr>
            </a:pPr>
            <a:r>
              <a:rPr sz="1350" b="0">
                <a:solidFill>
                  <a:srgbClr val="244743"/>
                </a:solidFill>
              </a:rPr>
              <a:t>Hourly uncertainty-aware dispatch gave the strongest COVE reduction while respecting storage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977F7-935D-4BFB-AF7B-4B305100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4102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7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F73E7-103A-4404-9703-738793F6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F5B"/>
                </a:solidFill>
              </a:defRPr>
            </a:pPr>
            <a:r>
              <a:rPr sz="2250" b="1">
                <a:solidFill>
                  <a:srgbClr val="315F5B"/>
                </a:solidFill>
              </a:rPr>
              <a:t>1. Problem and 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8937D-639A-4D2B-A489-2C3EC5FB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5B"/>
          </a:solidFill>
          <a:ln xmlns:a="http://schemas.openxmlformats.org/drawingml/2006/main" w="0">
            <a:solidFill>
              <a:srgbClr val="315F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46A06-F4E3-4C07-A468-64C53B96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4838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• Wind farms do not control when wind arrives.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• Electricity prices change hour by hour.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• Storage can hold wind energy and release it later.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• The goal is to choose direct delivery, charging, discharging, and curtailment to increase value.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• The hard part is making decisions before the future is known.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E3F26-284F-4C5E-BF31-6C31F725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F5B"/>
                </a:solidFill>
              </a:defRPr>
            </a:pPr>
            <a:r>
              <a:rPr sz="1200" b="1">
                <a:solidFill>
                  <a:srgbClr val="315F5B"/>
                </a:solidFill>
              </a:rPr>
              <a:t>Main comparison: a 100 MW constant-output CAES benchmark. It is a realistic storage rule, while wind-only is secondary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39516-5184-42E1-A309-FEB1A973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5372100" cy="2543175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47f4784494077"/>
          <a:stretch xmlns:a="http://schemas.openxmlformats.org/drawingml/2006/main"/>
        </p:blipFill>
        <p:spPr>
          <a:xfrm xmlns:a="http://schemas.openxmlformats.org/drawingml/2006/main">
            <a:off x="1033924" y="6286500"/>
            <a:ext cx="4675852" cy="2428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04474-3B80-4EE3-89F5-E000006E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82050"/>
            <a:ext cx="506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Figure 1. End-to-end pipeline: forecast wind/price, optimize dispatch with Gurobi, then score realized revenue and COVE.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43947-9126-41FA-90AF-25494161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0"/>
            <a:ext cx="54102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07990-5F42-44D8-99BC-49460C7F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34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6A86"/>
                </a:solidFill>
              </a:defRPr>
            </a:pPr>
            <a:r>
              <a:rPr sz="2250" b="1">
                <a:solidFill>
                  <a:srgbClr val="486A86"/>
                </a:solidFill>
              </a:rPr>
              <a:t>2. Data and Storage Setup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1A26E-6FFE-46A6-8EB1-18E6204D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1346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A86"/>
          </a:solidFill>
          <a:ln xmlns:a="http://schemas.openxmlformats.org/drawingml/2006/main" w="0">
            <a:solidFill>
              <a:srgbClr val="486A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18943-ED76-4657-8BA8-F7E67CF4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363200"/>
            <a:ext cx="4838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Dataset: Pyron wind farm, 1980-2023 hourly records.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Forecast training: historical data before 2014.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Testing period: 2014-2023 unseen years.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Price: ERCOT locational marginal price.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Storage: CAES, 100 MW, 10 h, 1000 MWh capacity.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SoC bounds: 200-1000 MWh; initial SoC: 600 MWh; RTE: 55%.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All dispatch results carry SoC forward chronologically.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B609A-FCE7-4652-B768-68881D0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82600"/>
            <a:ext cx="5372100" cy="28384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8b672097143e7"/>
          <a:stretch xmlns:a="http://schemas.openxmlformats.org/drawingml/2006/main"/>
        </p:blipFill>
        <p:spPr>
          <a:xfrm xmlns:a="http://schemas.openxmlformats.org/drawingml/2006/main">
            <a:off x="1090157" y="13239750"/>
            <a:ext cx="4563385" cy="27241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924BA-563E-44A2-9C9B-D33EF8F6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21050"/>
            <a:ext cx="506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Figure 2. Dispatch is constrained by wind-only charging, grid export, charge/discharge limits, and chronological SoC.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9D30B-57B5-49BF-A5B7-832B56ED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16375"/>
            <a:ext cx="54102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D4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C5257E-B065-4981-B321-4E2AF29E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259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F6575"/>
                </a:solidFill>
              </a:defRPr>
            </a:pPr>
            <a:r>
              <a:rPr sz="2250" b="1">
                <a:solidFill>
                  <a:srgbClr val="3F6575"/>
                </a:solidFill>
              </a:rPr>
              <a:t>3. Forecasting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FAF4A-737B-462A-9A9C-0E8D608A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25975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575"/>
          </a:solidFill>
          <a:ln xmlns:a="http://schemas.openxmlformats.org/drawingml/2006/main" w="0">
            <a:solidFill>
              <a:srgbClr val="3F65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E52B7-1BF6-4A18-82DB-F3709F69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73625"/>
            <a:ext cx="4838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• Causal lag/ridge uses only past information.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• It predicts generated power directly, not wind speed.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• Best forecast RMSE: 21.24 MW.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• This forecast feeds the realistic dispatch experiments.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• Other tested methods included persistence, speed-power curve, RNN, physics, and probabilistic outputs.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BCD3B5-75E5-45E7-85FB-7E53ECCF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45300"/>
            <a:ext cx="5372100" cy="25908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b865fd2cd4c31"/>
          <a:stretch xmlns:a="http://schemas.openxmlformats.org/drawingml/2006/main"/>
        </p:blipFill>
        <p:spPr>
          <a:xfrm xmlns:a="http://schemas.openxmlformats.org/drawingml/2006/main">
            <a:off x="1136990" y="19602450"/>
            <a:ext cx="4469719" cy="24765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37EE7B-5015-4EF2-BB48-9A7D6420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36100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Figure 3. Causal lag/ridge had the lowest power-prediction RMSE among tested forecast outputs.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029015-5295-42F4-8C8B-7D1AB446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5372100" cy="3019425"/>
          </a:xfrm>
          <a:prstGeom xmlns:a="http://schemas.openxmlformats.org/drawingml/2006/main" prst="roundRect">
            <a:avLst>
              <a:gd name="adj" fmla="val 5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1c45d87d1454d"/>
          <a:stretch xmlns:a="http://schemas.openxmlformats.org/drawingml/2006/main"/>
        </p:blipFill>
        <p:spPr>
          <a:xfrm xmlns:a="http://schemas.openxmlformats.org/drawingml/2006/main">
            <a:off x="6772699" y="2667000"/>
            <a:ext cx="4742603" cy="29051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E7D1D8-472E-4683-B3A3-848ADC5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388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Figure 4. Research ladder: start from 100 MW benchmark, add forecasting, add rolling-horizon dispatch, add scenarios, then compare to oracle.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758284-378B-484E-BA3C-59ED0CEC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381750"/>
            <a:ext cx="5410200" cy="5381625"/>
          </a:xfrm>
          <a:prstGeom xmlns:a="http://schemas.openxmlformats.org/drawingml/2006/main" prst="roundRect">
            <a:avLst>
              <a:gd name="adj" fmla="val 28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C7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EC9109-804F-4E13-92DA-D80E3827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91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F5472"/>
                </a:solidFill>
              </a:defRPr>
            </a:pPr>
            <a:r>
              <a:rPr sz="2250" b="1">
                <a:solidFill>
                  <a:srgbClr val="5F5472"/>
                </a:solidFill>
              </a:rPr>
              <a:t>4. How the Optimizer Decides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F7ECF0-A725-4736-B170-3640CA14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913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472"/>
          </a:solidFill>
          <a:ln xmlns:a="http://schemas.openxmlformats.org/drawingml/2006/main" w="0">
            <a:solidFill>
              <a:srgbClr val="5F547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5EB346-0CA3-4AF9-BF28-5A57B5EC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239000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Gurobi solves a mixed-integer linear program. It is the mathematical planner that chooses a feasible storage schedule under the rules below.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E2C5DF-6849-4E4B-B15A-6ED0FF4D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886700"/>
            <a:ext cx="4838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P_direct: wind sent straight to the grid.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P_charge: wind stored in CAES.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P_discharge: stored energy released to the grid.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SoC: storage energy carried forward through time.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Curtailment: wind not used because of physical limits.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C3BAF8-6A6C-4C28-8DA6-A86C38E7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942975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405F"/>
                </a:solidFill>
              </a:defRPr>
            </a:pPr>
            <a:r>
              <a:rPr sz="1275" b="1">
                <a:solidFill>
                  <a:srgbClr val="4C405F"/>
                </a:solidFill>
              </a:rPr>
              <a:t>Rolling horizon means: plan ahead, execute the near-term action, update the battery, then solve again. Revenue uses realized delivered power times realized price. COVE is lower when delivered energy is more valuable.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BB0D2D-8D62-48F8-980E-6B291D84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0229850"/>
            <a:ext cx="51816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8048f2f0c42ab"/>
          <a:stretch xmlns:a="http://schemas.openxmlformats.org/drawingml/2006/main"/>
        </p:blipFill>
        <p:spPr>
          <a:xfrm xmlns:a="http://schemas.openxmlformats.org/drawingml/2006/main">
            <a:off x="8217958" y="10287000"/>
            <a:ext cx="1852083" cy="13335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EDCDEB-4419-4790-B394-7279C097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096750"/>
            <a:ext cx="1244346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FFA59B-CCBA-48D4-91B9-5FD0BD40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172950"/>
            <a:ext cx="1053846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401A66-71B1-4FD4-970C-444610DB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246" y="12096750"/>
            <a:ext cx="2434590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0553C0-3AD0-4E9E-BF50-0384ED0A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12172950"/>
            <a:ext cx="2244090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Main idea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367DFF-7035-4EAF-A534-52F9DB8D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36" y="12096750"/>
            <a:ext cx="1731264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6550E1-26C3-43E7-A772-3C8F8189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086" y="12172950"/>
            <a:ext cx="1540764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Best result vs 100 MW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84BB78-D4AB-43B3-8A40-402CE3D6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747625"/>
            <a:ext cx="1244346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C123A8-C8FE-47B9-B042-D25A2177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823825"/>
            <a:ext cx="1053846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Benchmark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C86755-2397-4EF9-8C2A-B096ECDD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246" y="12747625"/>
            <a:ext cx="2434590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3EC875-2D51-4A0D-A1D8-1E6B8524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12823825"/>
            <a:ext cx="2244090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100 MW rule-based CAES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0011FD-7DDA-4CC0-96D1-0B9922E0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36" y="12747625"/>
            <a:ext cx="1731264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EB9CFE-2669-42F1-8BEC-FACE4E71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086" y="12823825"/>
            <a:ext cx="1540764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reference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B20EF8-F8B6-4DCB-8316-2F84EE8A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398500"/>
            <a:ext cx="1244346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A4DF2A-B74A-4203-93A7-D443AF25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474700"/>
            <a:ext cx="1053846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Forecast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FAC93B-3D70-4C93-95A7-A3E9DA0D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246" y="13398500"/>
            <a:ext cx="2434590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324947-D6FA-4238-BEE2-3D6246FD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13474700"/>
            <a:ext cx="2244090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Causal lag/ridge predicts wind power before dispatch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C8E8A3-6062-43C4-A5C7-A45C039C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36" y="13398500"/>
            <a:ext cx="1731264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5F6F2A-8CEF-4795-82FC-940C4624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086" y="13474700"/>
            <a:ext cx="1540764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RMSE 21.24 MW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1FD0C4-F922-465A-87A5-45C5448B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049375"/>
            <a:ext cx="1244346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1220F02-1923-4ED5-ACAB-A3D06E68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125575"/>
            <a:ext cx="1053846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Rolling horizon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C86099-FC2B-4EAB-97C5-38B8A388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246" y="14049375"/>
            <a:ext cx="2434590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8DD620-2896-4E09-A99D-E7B4B006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14125575"/>
            <a:ext cx="2244090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Gurobi uses one predicted future and replans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3FA37A-C495-4E49-9F80-C693217B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36" y="14049375"/>
            <a:ext cx="1731264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B90ADF-3F98-49BB-89C2-0F9582E8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086" y="14125575"/>
            <a:ext cx="1540764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48 h: 20.63% COVE gain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446370-CA80-48C7-8159-802D9CE2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700250"/>
            <a:ext cx="1244346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D8CF115-0E45-48CB-BD5D-A22A8650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776450"/>
            <a:ext cx="1053846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Scenarios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BF9915-E220-4922-8774-AC07CB48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246" y="14700250"/>
            <a:ext cx="2434590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DF3986-29A5-4675-B1A8-00FB50A9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14776450"/>
            <a:ext cx="2244090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Several futures are optimized together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DCA0FD4-F615-493A-A880-40384857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36" y="14700250"/>
            <a:ext cx="1731264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AF90F5E-00D9-405E-A147-EDFF1864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086" y="14776450"/>
            <a:ext cx="1540764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3 scenarios: 40.18% COVE gain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622A86-2B96-4318-AF4E-A7F8A589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351125"/>
            <a:ext cx="1244346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4859C5-DE28-4ED3-8FC8-D55B3A5F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427325"/>
            <a:ext cx="1053846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Oracle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6EA06A-CB63-4E3E-9EE8-B39188AF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246" y="15351125"/>
            <a:ext cx="2434590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AF2EE76-4B72-413B-AA42-11342EC0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15427325"/>
            <a:ext cx="2244090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Perfect future wind and price; not deployable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498FC10-43B8-419D-AB28-D41395C7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36" y="15351125"/>
            <a:ext cx="1731264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3C455E-8C07-4E68-A07F-160BB464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086" y="15427325"/>
            <a:ext cx="1540764" cy="51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168 h: 40.87% COVE gain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2420D85-96C5-44FF-A92F-26BC5D1E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87725"/>
            <a:ext cx="5372100" cy="25908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d2cad8d7448b7"/>
          <a:stretch xmlns:a="http://schemas.openxmlformats.org/drawingml/2006/main"/>
        </p:blipFill>
        <p:spPr>
          <a:xfrm xmlns:a="http://schemas.openxmlformats.org/drawingml/2006/main">
            <a:off x="6997279" y="16144875"/>
            <a:ext cx="4293442" cy="2476500"/>
          </a:xfrm>
          <a:prstGeom xmlns:a="http://schemas.openxmlformats.org/drawingml/2006/main" prst="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7D07BEE-2F5F-48B0-9F1C-3EC6F9F8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88050"/>
            <a:ext cx="506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Figure 5. Deterministic dispatch found that 48 h lookahead gave the best COVE gain under the 100 MW benchmark.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FDD222-7251-49E0-A006-BE3C4E88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373850"/>
            <a:ext cx="53721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26bbd5ef74d13"/>
          <a:stretch xmlns:a="http://schemas.openxmlformats.org/drawingml/2006/main"/>
        </p:blipFill>
        <p:spPr>
          <a:xfrm xmlns:a="http://schemas.openxmlformats.org/drawingml/2006/main">
            <a:off x="7327544" y="19431000"/>
            <a:ext cx="3632913" cy="2095500"/>
          </a:xfrm>
          <a:prstGeom xmlns:a="http://schemas.openxmlformats.org/drawingml/2006/main" prst="rect">
            <a:avLst/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B5B0B0-CDAF-4B16-B901-B0AD4FEF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602700"/>
            <a:ext cx="506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Figure 6. Longer horizons do not automatically win when forecasts are imperfect; 48 h balanced planning value and forecast error.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8B210AC-BDA0-4EE0-B23A-87C62146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667000"/>
            <a:ext cx="54102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C7A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52C81D-F541-4925-AE5F-A326B63D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134"/>
                </a:solidFill>
              </a:defRPr>
            </a:pPr>
            <a:r>
              <a:rPr sz="2250" b="1">
                <a:solidFill>
                  <a:srgbClr val="8A5134"/>
                </a:solidFill>
              </a:rPr>
              <a:t>5. Key Results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CC0802A-8816-43FD-B40D-F9C39FAB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2575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134"/>
          </a:solidFill>
          <a:ln xmlns:a="http://schemas.openxmlformats.org/drawingml/2006/main" w="0">
            <a:solidFill>
              <a:srgbClr val="8A513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862368E-1C9F-49CD-8F90-5E3C2C61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486150"/>
            <a:ext cx="483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Primary comparison: 100 MW constant-output CAES benchmark. Wind-only is side context. Higher COVE gain means the storage policy makes energy more valuable per cost.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A02AEC5-DCE9-41F2-9E83-2FFDFD15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619625"/>
            <a:ext cx="2619375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3F657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D76FD87-4EFE-4126-A9D7-C738C2B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77202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6575"/>
                </a:solidFill>
              </a:defRPr>
            </a:pPr>
            <a:r>
              <a:rPr sz="2400" b="1">
                <a:solidFill>
                  <a:srgbClr val="3F6575"/>
                </a:solidFill>
              </a:rPr>
              <a:t>21.24 MW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2409F9-AEBB-415C-8444-01929801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22922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Best forecast model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4CB6AAB-7993-4A37-AA32-B7E901A5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686425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causal lag/ridge RMSE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2F25436-0C9A-4250-80B6-40CD9065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4619625"/>
            <a:ext cx="2619375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5F547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2D34A5-4D2D-4A93-8757-CC4C67BC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477202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F5472"/>
                </a:solidFill>
              </a:defRPr>
            </a:pPr>
            <a:r>
              <a:rPr sz="2400" b="1">
                <a:solidFill>
                  <a:srgbClr val="5F5472"/>
                </a:solidFill>
              </a:rPr>
              <a:t>20.63%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AE0A7D7-FCBB-436C-90C7-8B9141F8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522922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Best deterministic dispatch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FCDCDD-8060-4190-80B3-DDE7580A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5686425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48 h COVE gain vs 100 MW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04353A8-53C3-453F-93E3-42D49ED2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305550"/>
            <a:ext cx="2619375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557A5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A51F194-BD14-40A4-81B1-B0B5C62A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7A5A"/>
                </a:solidFill>
              </a:defRPr>
            </a:pPr>
            <a:r>
              <a:rPr sz="2400" b="1">
                <a:solidFill>
                  <a:srgbClr val="557A5A"/>
                </a:solidFill>
              </a:rPr>
              <a:t>40.18%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BB515F3-3B65-4222-9E65-6C6B5E75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915150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Best scenario controller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A3EA0D1-8812-4889-BC13-5F694570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72350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3 scenarios, hourly replan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64DE356-5775-4DA9-8D29-EABAFFF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6305550"/>
            <a:ext cx="2619375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8A5134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03000F3-CE70-42C3-AEAE-85251F98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6457950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A5134"/>
                </a:solidFill>
              </a:defRPr>
            </a:pPr>
            <a:r>
              <a:rPr sz="2400" b="1">
                <a:solidFill>
                  <a:srgbClr val="8A5134"/>
                </a:solidFill>
              </a:rPr>
              <a:t>40.87%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FAF8449-D922-483D-853B-B70B6C2E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6915150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Oracle upper bound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54077F5-9A0C-473C-ACD3-E5D22593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7372350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168 h perfect future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EF0CFE1-72C4-48AE-864B-3E56F50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8134350"/>
            <a:ext cx="5372100" cy="3019425"/>
          </a:xfrm>
          <a:prstGeom xmlns:a="http://schemas.openxmlformats.org/drawingml/2006/main" prst="roundRect">
            <a:avLst>
              <a:gd name="adj" fmla="val 5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4c8b2cf64439a"/>
          <a:stretch xmlns:a="http://schemas.openxmlformats.org/drawingml/2006/main"/>
        </p:blipFill>
        <p:spPr>
          <a:xfrm xmlns:a="http://schemas.openxmlformats.org/drawingml/2006/main">
            <a:off x="12320925" y="8191500"/>
            <a:ext cx="5190451" cy="2905125"/>
          </a:xfrm>
          <a:prstGeom xmlns:a="http://schemas.openxmlformats.org/drawingml/2006/main" prst="rect">
            <a:avLst/>
          </a:prstGeom>
        </p:spPr>
      </p:pic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6DF73F5-5E46-4401-B3EB-4CE25E03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1172825"/>
            <a:ext cx="506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Figure 7. The hourly uncertainty-aware controller worked best with 3 scenarios; too many scenarios became conservative.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4C9ABEE-D847-476D-B80E-0B2A50D7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1849100"/>
            <a:ext cx="53721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ed190f2e84608"/>
          <a:stretch xmlns:a="http://schemas.openxmlformats.org/drawingml/2006/main"/>
        </p:blipFill>
        <p:spPr>
          <a:xfrm xmlns:a="http://schemas.openxmlformats.org/drawingml/2006/main">
            <a:off x="12481496" y="11906250"/>
            <a:ext cx="4869307" cy="2714625"/>
          </a:xfrm>
          <a:prstGeom xmlns:a="http://schemas.openxmlformats.org/drawingml/2006/main" prst="rect">
            <a:avLst/>
          </a:prstGeom>
        </p:spPr>
      </p:pic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2912F6C-66C0-4915-9774-BD8F0BFF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4678025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Figure 8. The best scenario case had the highest revenue and lowest COVE among scenario counts.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02E53ED-F19C-4823-B97D-297A5A14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5278100"/>
            <a:ext cx="53721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7a47e14464ff8"/>
          <a:stretch xmlns:a="http://schemas.openxmlformats.org/drawingml/2006/main"/>
        </p:blipFill>
        <p:spPr>
          <a:xfrm xmlns:a="http://schemas.openxmlformats.org/drawingml/2006/main">
            <a:off x="12563013" y="15335250"/>
            <a:ext cx="4706273" cy="2714625"/>
          </a:xfrm>
          <a:prstGeom xmlns:a="http://schemas.openxmlformats.org/drawingml/2006/main" prst="rect">
            <a:avLst/>
          </a:prstGeom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E196D45-4F1B-42EB-B152-9DA86EF7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8107025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Figure 9. Oracle dispatch is not realistic because it knows the future, but it shows the ceiling for the controller.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1DDE553-0677-48A1-924E-17783329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8954750"/>
            <a:ext cx="54102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8C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B991976-2A9B-484C-A260-4E1B2BBB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9164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57A5A"/>
                </a:solidFill>
              </a:defRPr>
            </a:pPr>
            <a:r>
              <a:rPr sz="2250" b="1">
                <a:solidFill>
                  <a:srgbClr val="557A5A"/>
                </a:solidFill>
              </a:rPr>
              <a:t>6. Main Conclusion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23F8A93-DB4C-484A-8B9B-C55716A2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95643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5A"/>
          </a:solidFill>
          <a:ln xmlns:a="http://schemas.openxmlformats.org/drawingml/2006/main" w="0">
            <a:solidFill>
              <a:srgbClr val="557A5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7C4A978-88A9-4F6C-A7E4-28A9A4A1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19812000"/>
            <a:ext cx="4838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• Forecast quality matters, but dispatch logic matters too.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• A 48-hour deterministic lookahead was best when one forecast was used.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• Hourly uncertainty-aware replanning improved the best result because it corrected mistakes quickly.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• Three scenarios were enough to capture useful uncertainty without making the optimizer overly cautious.</a:t>
            </a:r>
          </a:p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• The project shows forecasting and optimization must be designed as one connected control system.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C2D3E2C-1DAE-4551-993D-D509AA71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1545550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5A39"/>
                </a:solidFill>
              </a:defRPr>
            </a:pPr>
            <a:r>
              <a:rPr sz="1275" b="1">
                <a:solidFill>
                  <a:srgbClr val="335A39"/>
                </a:solidFill>
              </a:rPr>
              <a:t>Practical message: hybrid wind-storage control should tune the forecast horizon, replanning frequency, storage assumptions, and scenario count together, not separately.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8474F77-B7A4-48B3-B631-2B2EB4D4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17125"/>
            <a:ext cx="16954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F2933"/>
          </a:solidFill>
          <a:ln xmlns:a="http://schemas.openxmlformats.org/drawingml/2006/main" w="19050">
            <a:solidFill>
              <a:srgbClr val="1F29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334FC8D-6733-4A0B-ACFD-E51E5C11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266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Definitions for the reader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7E59C32-AB3B-4469-9FB1-849DDEFD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83875"/>
            <a:ext cx="1009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• 100 MW benchmark: rule-based storage case that tries to deliver 100 MW every hour.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• Wind-only: no storage; actual wind goes to the grid up to the 249 MW cap.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• Rolling horizon: solve the future, execute the near-term action, then solve again.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• Scenario dispatch: solve against several possible futures instead of one forecast.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• Oracle: perfect-future case used only as an upper bound.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• COVE: cost divided by valued delivered energy; lower is better.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• Constraint violation check: confirms storage and grid rules were not broken.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3F2837B-5243-458D-8C45-186426CF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9266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Acknowledgements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4E2747F-42AB-48D8-920E-581D0D4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3383875"/>
            <a:ext cx="561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Thank you to Dr. Chris Qin, Nora Hosseiniimeni, Zach Lawrence, Jessica Yao, and the WSU Summer Research Program. Data and assumptions draw from the Pyron wind-storage dataset, ERCOT LMP records, and PNNL CAES storage references.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B1D5BBF-D49E-493A-8C15-DD84329F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4907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F3D0"/>
                </a:solidFill>
              </a:defRPr>
            </a:pPr>
            <a:r>
              <a:rPr sz="1500" b="1">
                <a:solidFill>
                  <a:srgbClr val="A7F3D0"/>
                </a:solidFill>
              </a:rPr>
              <a:t>Contact: dvalent2@ncsu.edu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41656D1-6C66-4519-8FB2-518F16C3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52317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Poster size: 20 in x 30 in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273219A-DA22-46DC-896D-5A059BA0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0"/>
            <a:ext cx="1695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A0"/>
          </a:solidFill>
          <a:ln xmlns:a="http://schemas.openxmlformats.org/drawingml/2006/main" w="0">
            <a:solidFill>
              <a:srgbClr val="7AA7A0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39C00E-92B1-442D-8501-FBF5B789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36625"/>
            <a:ext cx="1695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All reported comparative metrics use the 100 MW constant-output benchmark as the primary reference; wind-only is secondary context.</a:t>
            </a:r>
          </a:p>
        </p:txBody>
      </p:sp>
    </p:spTree>
    <p:extLst>
      <p:ext uri="{BB962C8B-B14F-4D97-AF65-F5344CB8AC3E}">
        <p14:creationId xmlns:p14="http://schemas.microsoft.com/office/powerpoint/2010/main" val="74749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2026-07-27T20:18:58.0410000Z</dcterms:created>
  <dcterms:modified xsi:type="dcterms:W3CDTF">2026-07-27T20:18:58.0410000Z</dcterms:modified>
</coreProperties>
</file>