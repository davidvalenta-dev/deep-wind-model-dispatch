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45edc7921640a3" /><Relationship Type="http://schemas.openxmlformats.org/officeDocument/2006/relationships/extended-properties" Target="/docProps/app.xml" Id="Rc467765504fa465c" /><Relationship Type="http://schemas.openxmlformats.org/officeDocument/2006/relationships/officeDocument" Target="/ppt/presentation.xml" Id="R5b8027a7e7054e58" /></Relationships>
</file>

<file path=ppt/presentation.xml><?xml version="1.0" encoding="utf-8"?>
<p:presentation xmlns:p="http://schemas.openxmlformats.org/presentationml/2006/main">
  <p:sldMasterIdLst>
    <p:sldMasterId xmlns:r="http://schemas.openxmlformats.org/officeDocument/2006/relationships" id="2147483648" r:id="R466ffa789e91402e"/>
  </p:sldMasterIdLst>
  <p:notesMasterIdLst>
    <p:notesMasterId xmlns:r="http://schemas.openxmlformats.org/officeDocument/2006/relationships" r:id="Rcf1ae46fb75c4354"/>
  </p:notesMasterIdLst>
  <p:sldIdLst>
    <p:sldId xmlns:r="http://schemas.openxmlformats.org/officeDocument/2006/relationships" id="256" r:id="Rd59e4d73df264dd3"/>
  </p:sldIdLst>
  <p:sldSz cx="27432000" cy="1828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41555d962e4989" /><Relationship Type="http://schemas.openxmlformats.org/officeDocument/2006/relationships/slideMaster" Target="/ppt/slideMasters/slideMaster1.xml" Id="R466ffa789e91402e" /><Relationship Type="http://schemas.openxmlformats.org/officeDocument/2006/relationships/notesMaster" Target="/ppt/notesMasters/notesMaster1.xml" Id="Rcf1ae46fb75c4354" /><Relationship Type="http://schemas.openxmlformats.org/officeDocument/2006/relationships/presProps" Target="/ppt/presProps.xml" Id="R0c08f62f832c44ef" /><Relationship Type="http://schemas.openxmlformats.org/officeDocument/2006/relationships/tableStyles" Target="/ppt/tableStyles.xml" Id="R2535760647a84291" /><Relationship Type="http://schemas.openxmlformats.org/officeDocument/2006/relationships/slide" Target="/ppt/slides/slide1.xml" Id="Rd59e4d73df264d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2b1083352844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4ef8cb22fa4d8e" /><Relationship Type="http://schemas.openxmlformats.org/officeDocument/2006/relationships/notesMaster" Target="/ppt/notesMasters/notesMaster1.xml" Id="R0df2884c57e845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3c8baa7cb643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17006a68b44f17" /><Relationship Type="http://schemas.openxmlformats.org/officeDocument/2006/relationships/slideLayout" Target="/ppt/slideLayouts/slideLayout1.xml" Id="R871a752461fe41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1a752461fe41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2334b0071f4839" /><Relationship Type="http://schemas.openxmlformats.org/officeDocument/2006/relationships/image" Target="/ppt/media/image.png" Id="Ra3c85f5cced2463c" /><Relationship Type="http://schemas.openxmlformats.org/officeDocument/2006/relationships/image" Target="/ppt/media/image2.png" Id="Rd2f1ecaa3f39452e" /><Relationship Type="http://schemas.openxmlformats.org/officeDocument/2006/relationships/image" Target="/ppt/media/image3.png" Id="Rf613aec5c61241e5" /><Relationship Type="http://schemas.openxmlformats.org/officeDocument/2006/relationships/image" Target="/ppt/media/image4.png" Id="R7e0611fd2cd449a7" /><Relationship Type="http://schemas.openxmlformats.org/officeDocument/2006/relationships/image" Target="/ppt/media/image5.png" Id="Re0dac3053f0c4d0f" /><Relationship Type="http://schemas.openxmlformats.org/officeDocument/2006/relationships/image" Target="/ppt/media/image6.png" Id="R78858bb3755d4622" /><Relationship Type="http://schemas.openxmlformats.org/officeDocument/2006/relationships/image" Target="/ppt/media/image7.png" Id="R9907ae1a28844304" /><Relationship Type="http://schemas.openxmlformats.org/officeDocument/2006/relationships/image" Target="/ppt/media/image8.png" Id="Rf0cef5853e9d4cc3" /><Relationship Type="http://schemas.openxmlformats.org/officeDocument/2006/relationships/notesSlide" Target="/ppt/notesSlides/notesSlide1.xml" Id="R83d9699d9cf54342" /></Relationships>
</file>

<file path=ppt/slides/slide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4" name="">
            <a:extLst xmlns:a="http://schemas.openxmlformats.org/drawingml/2006/main">
              <a:ext uri="{FF2B5EF4-FFF2-40B4-BE49-F238E27FC236}">
                <a16:creationId xmlns:a16="http://schemas.microsoft.com/office/drawing/2014/main" id="{744A2053-6A03-4E41-8349-DB84F317F353}"/>
              </a:ext>
            </a:extLst>
          </p:cNvPr>
          <p:cNvSpPr>
            <a:spLocks xmlns:a="http://schemas.openxmlformats.org/drawingml/2006/main" noGrp="1"/>
          </p:cNvSpPr>
          <p:nvPr/>
        </p:nvSpPr>
        <p:spPr>
          <a:xfrm xmlns:a="http://schemas.openxmlformats.org/drawingml/2006/main">
            <a:off x="0" y="0"/>
            <a:ext cx="27432000" cy="1714500"/>
          </a:xfrm>
          <a:prstGeom xmlns:a="http://schemas.openxmlformats.org/drawingml/2006/main" prst="rect">
            <a:avLst/>
          </a:prstGeom>
          <a:solidFill xmlns:a="http://schemas.openxmlformats.org/drawingml/2006/main">
            <a:srgbClr val="315F5B"/>
          </a:solidFill>
          <a:ln xmlns:a="http://schemas.openxmlformats.org/drawingml/2006/main" w="0">
            <a:solidFill>
              <a:srgbClr val="315F5B"/>
            </a:solidFill>
            <a:prstDash val="solid"/>
          </a:ln>
        </p:spPr>
      </p:sp>
      <p:sp>
        <p:nvSpPr>
          <p:cNvPr id="2" name="">
            <a:extLst xmlns:a="http://schemas.openxmlformats.org/drawingml/2006/main">
              <a:ext uri="{FF2B5EF4-FFF2-40B4-BE49-F238E27FC236}">
                <a16:creationId xmlns:a16="http://schemas.microsoft.com/office/drawing/2014/main" id="{C5172531-BAC1-4535-A6FE-FC35904D4FF1}"/>
              </a:ext>
            </a:extLst>
          </p:cNvPr>
          <p:cNvSpPr>
            <a:spLocks xmlns:a="http://schemas.openxmlformats.org/drawingml/2006/main" noGrp="1"/>
          </p:cNvSpPr>
          <p:nvPr/>
        </p:nvSpPr>
        <p:spPr>
          <a:xfrm xmlns:a="http://schemas.openxmlformats.org/drawingml/2006/main">
            <a:off x="666750" y="247650"/>
            <a:ext cx="1924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Forecast-Aware Rolling-Horizon Optimization for Hybrid Wind-Storage Dispatch</a:t>
            </a:r>
          </a:p>
        </p:txBody>
      </p:sp>
      <p:sp>
        <p:nvSpPr>
          <p:cNvPr id="3" name="">
            <a:extLst xmlns:a="http://schemas.openxmlformats.org/drawingml/2006/main">
              <a:ext uri="{FF2B5EF4-FFF2-40B4-BE49-F238E27FC236}">
                <a16:creationId xmlns:a16="http://schemas.microsoft.com/office/drawing/2014/main" id="{A4FE1F8F-AF9E-4D17-950D-8DE57B854AE9}"/>
              </a:ext>
            </a:extLst>
          </p:cNvPr>
          <p:cNvSpPr>
            <a:spLocks xmlns:a="http://schemas.openxmlformats.org/drawingml/2006/main" noGrp="1"/>
          </p:cNvSpPr>
          <p:nvPr/>
        </p:nvSpPr>
        <p:spPr>
          <a:xfrm xmlns:a="http://schemas.openxmlformats.org/drawingml/2006/main">
            <a:off x="685800" y="876300"/>
            <a:ext cx="1428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DBECE8"/>
                </a:solidFill>
              </a:defRPr>
            </a:pPr>
            <a:r>
              <a:rPr sz="1650" b="0">
                <a:solidFill>
                  <a:srgbClr val="DBECE8"/>
                </a:solidFill>
              </a:rPr>
              <a:t>David Valenta, North Carolina State University  |  Dr. Chris Qin, Washington State University</a:t>
            </a:r>
          </a:p>
        </p:txBody>
      </p:sp>
      <p:sp>
        <p:nvSpPr>
          <p:cNvPr id="4" name="">
            <a:extLst xmlns:a="http://schemas.openxmlformats.org/drawingml/2006/main">
              <a:ext uri="{FF2B5EF4-FFF2-40B4-BE49-F238E27FC236}">
                <a16:creationId xmlns:a16="http://schemas.microsoft.com/office/drawing/2014/main" id="{C63E3A49-F71B-46DE-9C8C-F977DDB70979}"/>
              </a:ext>
            </a:extLst>
          </p:cNvPr>
          <p:cNvSpPr>
            <a:spLocks xmlns:a="http://schemas.openxmlformats.org/drawingml/2006/main" noGrp="1"/>
          </p:cNvSpPr>
          <p:nvPr/>
        </p:nvSpPr>
        <p:spPr>
          <a:xfrm xmlns:a="http://schemas.openxmlformats.org/drawingml/2006/main">
            <a:off x="685800" y="1219200"/>
            <a:ext cx="1524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EEF7F5"/>
                </a:solidFill>
              </a:defRPr>
            </a:pPr>
            <a:r>
              <a:rPr sz="1350" b="0">
                <a:solidFill>
                  <a:srgbClr val="EEF7F5"/>
                </a:solidFill>
              </a:rPr>
              <a:t>Summer 2026 REU  |  Pyron wind farm case study  |  ERCOT LMP data  |  PNNL CAES assumptions</a:t>
            </a:r>
          </a:p>
        </p:txBody>
      </p:sp>
      <p:sp>
        <p:nvSpPr>
          <p:cNvPr id="5" name="">
            <a:extLst xmlns:a="http://schemas.openxmlformats.org/drawingml/2006/main">
              <a:ext uri="{FF2B5EF4-FFF2-40B4-BE49-F238E27FC236}">
                <a16:creationId xmlns:a16="http://schemas.microsoft.com/office/drawing/2014/main" id="{3D708C5F-7230-44E5-ADC3-661F8A6D2244}"/>
              </a:ext>
            </a:extLst>
          </p:cNvPr>
          <p:cNvSpPr>
            <a:spLocks xmlns:a="http://schemas.openxmlformats.org/drawingml/2006/main" noGrp="1"/>
          </p:cNvSpPr>
          <p:nvPr/>
        </p:nvSpPr>
        <p:spPr>
          <a:xfrm xmlns:a="http://schemas.openxmlformats.org/drawingml/2006/main">
            <a:off x="21002625" y="266700"/>
            <a:ext cx="5715000" cy="1181100"/>
          </a:xfrm>
          <a:prstGeom xmlns:a="http://schemas.openxmlformats.org/drawingml/2006/main" prst="roundRect">
            <a:avLst>
              <a:gd name="adj" fmla="val 9677"/>
            </a:avLst>
          </a:prstGeom>
          <a:solidFill xmlns:a="http://schemas.openxmlformats.org/drawingml/2006/main">
            <a:srgbClr val="EEF5EF"/>
          </a:solidFill>
          <a:ln xmlns:a="http://schemas.openxmlformats.org/drawingml/2006/main" w="19050">
            <a:solidFill>
              <a:srgbClr val="D6E7DF"/>
            </a:solidFill>
            <a:prstDash val="solid"/>
          </a:ln>
        </p:spPr>
      </p:sp>
      <p:sp>
        <p:nvSpPr>
          <p:cNvPr id="6" name="">
            <a:extLst xmlns:a="http://schemas.openxmlformats.org/drawingml/2006/main">
              <a:ext uri="{FF2B5EF4-FFF2-40B4-BE49-F238E27FC236}">
                <a16:creationId xmlns:a16="http://schemas.microsoft.com/office/drawing/2014/main" id="{EB08D7BE-7B0E-469D-8A4B-D3BB0D6086AF}"/>
              </a:ext>
            </a:extLst>
          </p:cNvPr>
          <p:cNvSpPr>
            <a:spLocks xmlns:a="http://schemas.openxmlformats.org/drawingml/2006/main" noGrp="1"/>
          </p:cNvSpPr>
          <p:nvPr/>
        </p:nvSpPr>
        <p:spPr>
          <a:xfrm xmlns:a="http://schemas.openxmlformats.org/drawingml/2006/main">
            <a:off x="21240750" y="428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315F5B"/>
                </a:solidFill>
              </a:defRPr>
            </a:pPr>
            <a:r>
              <a:rPr sz="1500" b="1">
                <a:solidFill>
                  <a:srgbClr val="315F5B"/>
                </a:solidFill>
              </a:rPr>
              <a:t>Main takeaway</a:t>
            </a:r>
          </a:p>
        </p:txBody>
      </p:sp>
      <p:sp>
        <p:nvSpPr>
          <p:cNvPr id="7" name="">
            <a:extLst xmlns:a="http://schemas.openxmlformats.org/drawingml/2006/main">
              <a:ext uri="{FF2B5EF4-FFF2-40B4-BE49-F238E27FC236}">
                <a16:creationId xmlns:a16="http://schemas.microsoft.com/office/drawing/2014/main" id="{0A039F00-D119-4FC0-A19E-63D2EB16008E}"/>
              </a:ext>
            </a:extLst>
          </p:cNvPr>
          <p:cNvSpPr>
            <a:spLocks xmlns:a="http://schemas.openxmlformats.org/drawingml/2006/main" noGrp="1"/>
          </p:cNvSpPr>
          <p:nvPr/>
        </p:nvSpPr>
        <p:spPr>
          <a:xfrm xmlns:a="http://schemas.openxmlformats.org/drawingml/2006/main">
            <a:off x="21240750" y="723900"/>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4743"/>
                </a:solidFill>
              </a:defRPr>
            </a:pPr>
            <a:r>
              <a:rPr sz="1275" b="0">
                <a:solidFill>
                  <a:srgbClr val="244743"/>
                </a:solidFill>
              </a:rPr>
              <a:t>A forecast-aware controller must tune forecast horizon, replanning frequency, storage constraints, and scenario count together.</a:t>
            </a:r>
          </a:p>
        </p:txBody>
      </p:sp>
      <p:sp>
        <p:nvSpPr>
          <p:cNvPr id="8" name="">
            <a:extLst xmlns:a="http://schemas.openxmlformats.org/drawingml/2006/main">
              <a:ext uri="{FF2B5EF4-FFF2-40B4-BE49-F238E27FC236}">
                <a16:creationId xmlns:a16="http://schemas.microsoft.com/office/drawing/2014/main" id="{9F466548-B02D-40FB-9C44-74C37AEE5805}"/>
              </a:ext>
            </a:extLst>
          </p:cNvPr>
          <p:cNvSpPr>
            <a:spLocks xmlns:a="http://schemas.openxmlformats.org/drawingml/2006/main" noGrp="1"/>
          </p:cNvSpPr>
          <p:nvPr/>
        </p:nvSpPr>
        <p:spPr>
          <a:xfrm xmlns:a="http://schemas.openxmlformats.org/drawingml/2006/main">
            <a:off x="590550" y="2047875"/>
            <a:ext cx="63627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19050">
            <a:solidFill>
              <a:srgbClr val="B8D7D2"/>
            </a:solidFill>
            <a:prstDash val="solid"/>
          </a:ln>
        </p:spPr>
      </p:sp>
      <p:sp>
        <p:nvSpPr>
          <p:cNvPr id="9" name="">
            <a:extLst xmlns:a="http://schemas.openxmlformats.org/drawingml/2006/main">
              <a:ext uri="{FF2B5EF4-FFF2-40B4-BE49-F238E27FC236}">
                <a16:creationId xmlns:a16="http://schemas.microsoft.com/office/drawing/2014/main" id="{56373749-AD9A-4A8E-A1DD-79B2CE0CADC5}"/>
              </a:ext>
            </a:extLst>
          </p:cNvPr>
          <p:cNvSpPr>
            <a:spLocks xmlns:a="http://schemas.openxmlformats.org/drawingml/2006/main" noGrp="1"/>
          </p:cNvSpPr>
          <p:nvPr/>
        </p:nvSpPr>
        <p:spPr>
          <a:xfrm xmlns:a="http://schemas.openxmlformats.org/drawingml/2006/main">
            <a:off x="800100" y="2219325"/>
            <a:ext cx="594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315F5B"/>
                </a:solidFill>
              </a:defRPr>
            </a:pPr>
            <a:r>
              <a:rPr sz="2025" b="1">
                <a:solidFill>
                  <a:srgbClr val="315F5B"/>
                </a:solidFill>
              </a:rPr>
              <a:t>1. Problem</a:t>
            </a:r>
          </a:p>
        </p:txBody>
      </p:sp>
      <p:sp>
        <p:nvSpPr>
          <p:cNvPr id="10" name="">
            <a:extLst xmlns:a="http://schemas.openxmlformats.org/drawingml/2006/main">
              <a:ext uri="{FF2B5EF4-FFF2-40B4-BE49-F238E27FC236}">
                <a16:creationId xmlns:a16="http://schemas.microsoft.com/office/drawing/2014/main" id="{C745D1F0-263F-4DD6-B36D-9BE161E0E75D}"/>
              </a:ext>
            </a:extLst>
          </p:cNvPr>
          <p:cNvSpPr>
            <a:spLocks xmlns:a="http://schemas.openxmlformats.org/drawingml/2006/main" noGrp="1"/>
          </p:cNvSpPr>
          <p:nvPr/>
        </p:nvSpPr>
        <p:spPr>
          <a:xfrm xmlns:a="http://schemas.openxmlformats.org/drawingml/2006/main">
            <a:off x="800100" y="2590800"/>
            <a:ext cx="5943600" cy="38100"/>
          </a:xfrm>
          <a:prstGeom xmlns:a="http://schemas.openxmlformats.org/drawingml/2006/main" prst="rect">
            <a:avLst/>
          </a:prstGeom>
          <a:solidFill xmlns:a="http://schemas.openxmlformats.org/drawingml/2006/main">
            <a:srgbClr val="315F5B"/>
          </a:solidFill>
          <a:ln xmlns:a="http://schemas.openxmlformats.org/drawingml/2006/main" w="0">
            <a:solidFill>
              <a:srgbClr val="315F5B"/>
            </a:solidFill>
            <a:prstDash val="solid"/>
          </a:ln>
        </p:spPr>
      </p:sp>
      <p:sp>
        <p:nvSpPr>
          <p:cNvPr id="11" name="">
            <a:extLst xmlns:a="http://schemas.openxmlformats.org/drawingml/2006/main">
              <a:ext uri="{FF2B5EF4-FFF2-40B4-BE49-F238E27FC236}">
                <a16:creationId xmlns:a16="http://schemas.microsoft.com/office/drawing/2014/main" id="{5837157D-7059-429A-AE00-AE33626178C2}"/>
              </a:ext>
            </a:extLst>
          </p:cNvPr>
          <p:cNvSpPr>
            <a:spLocks xmlns:a="http://schemas.openxmlformats.org/drawingml/2006/main" noGrp="1"/>
          </p:cNvSpPr>
          <p:nvPr/>
        </p:nvSpPr>
        <p:spPr>
          <a:xfrm xmlns:a="http://schemas.openxmlformats.org/drawingml/2006/main">
            <a:off x="857250" y="2790825"/>
            <a:ext cx="58293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F2937"/>
                </a:solidFill>
              </a:defRPr>
            </a:pPr>
            <a:r>
              <a:rPr sz="1275" b="0">
                <a:solidFill>
                  <a:srgbClr val="1F2937"/>
                </a:solidFill>
              </a:rPr>
              <a:t>• Wind and electricity price change every hour.</a:t>
            </a:r>
          </a:p>
          <a:p xmlns:a="http://schemas.openxmlformats.org/drawingml/2006/main">
            <a:pPr algn="l">
              <a:defRPr sz="1275" b="0">
                <a:solidFill>
                  <a:srgbClr val="1F2937"/>
                </a:solidFill>
              </a:defRPr>
            </a:pPr>
            <a:r>
              <a:rPr sz="1275" b="0">
                <a:solidFill>
                  <a:srgbClr val="1F2937"/>
                </a:solidFill>
              </a:rPr>
              <a:t>• A hybrid wind farm can sell wind now or store energy for later.</a:t>
            </a:r>
          </a:p>
          <a:p xmlns:a="http://schemas.openxmlformats.org/drawingml/2006/main">
            <a:pPr algn="l">
              <a:defRPr sz="1275" b="0">
                <a:solidFill>
                  <a:srgbClr val="1F2937"/>
                </a:solidFill>
              </a:defRPr>
            </a:pPr>
            <a:r>
              <a:rPr sz="1275" b="0">
                <a:solidFill>
                  <a:srgbClr val="1F2937"/>
                </a:solidFill>
              </a:rPr>
              <a:t>• The challenge is dispatching storage before the future is known.</a:t>
            </a:r>
          </a:p>
          <a:p xmlns:a="http://schemas.openxmlformats.org/drawingml/2006/main">
            <a:pPr algn="l">
              <a:defRPr sz="1275" b="0">
                <a:solidFill>
                  <a:srgbClr val="1F2937"/>
                </a:solidFill>
              </a:defRPr>
            </a:pPr>
            <a:r>
              <a:rPr sz="1275" b="0">
                <a:solidFill>
                  <a:srgbClr val="1F2937"/>
                </a:solidFill>
              </a:rPr>
              <a:t>• The main comparison is the 100 MW constant-output CAES benchmark.</a:t>
            </a:r>
          </a:p>
          <a:p xmlns:a="http://schemas.openxmlformats.org/drawingml/2006/main">
            <a:pPr algn="l">
              <a:defRPr sz="1275" b="0">
                <a:solidFill>
                  <a:srgbClr val="1F2937"/>
                </a:solidFill>
              </a:defRPr>
            </a:pPr>
            <a:r>
              <a:rPr sz="1275" b="0">
                <a:solidFill>
                  <a:srgbClr val="1F2937"/>
                </a:solidFill>
              </a:rPr>
              <a:t>• Wind-only is kept as secondary reference information.</a:t>
            </a:r>
          </a:p>
        </p:txBody>
      </p:sp>
      <p:sp>
        <p:nvSpPr>
          <p:cNvPr id="12" name="">
            <a:extLst xmlns:a="http://schemas.openxmlformats.org/drawingml/2006/main">
              <a:ext uri="{FF2B5EF4-FFF2-40B4-BE49-F238E27FC236}">
                <a16:creationId xmlns:a16="http://schemas.microsoft.com/office/drawing/2014/main" id="{BC27B201-6677-4AB5-A615-7E3E40CB576E}"/>
              </a:ext>
            </a:extLst>
          </p:cNvPr>
          <p:cNvSpPr>
            <a:spLocks xmlns:a="http://schemas.openxmlformats.org/drawingml/2006/main" noGrp="1"/>
          </p:cNvSpPr>
          <p:nvPr/>
        </p:nvSpPr>
        <p:spPr>
          <a:xfrm xmlns:a="http://schemas.openxmlformats.org/drawingml/2006/main">
            <a:off x="857250" y="4314825"/>
            <a:ext cx="582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15F5B"/>
                </a:solidFill>
              </a:defRPr>
            </a:pPr>
            <a:r>
              <a:rPr sz="1200" b="1">
                <a:solidFill>
                  <a:srgbClr val="315F5B"/>
                </a:solidFill>
              </a:rPr>
              <a:t>Why storage helps</a:t>
            </a:r>
          </a:p>
        </p:txBody>
      </p:sp>
      <p:sp>
        <p:nvSpPr>
          <p:cNvPr id="13" name="">
            <a:extLst xmlns:a="http://schemas.openxmlformats.org/drawingml/2006/main">
              <a:ext uri="{FF2B5EF4-FFF2-40B4-BE49-F238E27FC236}">
                <a16:creationId xmlns:a16="http://schemas.microsoft.com/office/drawing/2014/main" id="{4713A691-A5C4-49A6-A451-BC8333203C0A}"/>
              </a:ext>
            </a:extLst>
          </p:cNvPr>
          <p:cNvSpPr>
            <a:spLocks xmlns:a="http://schemas.openxmlformats.org/drawingml/2006/main" noGrp="1"/>
          </p:cNvSpPr>
          <p:nvPr/>
        </p:nvSpPr>
        <p:spPr>
          <a:xfrm xmlns:a="http://schemas.openxmlformats.org/drawingml/2006/main">
            <a:off x="857250" y="4562475"/>
            <a:ext cx="582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334155"/>
                </a:solidFill>
              </a:defRPr>
            </a:pPr>
            <a:r>
              <a:rPr sz="975" b="0">
                <a:solidFill>
                  <a:srgbClr val="334155"/>
                </a:solidFill>
              </a:rPr>
              <a:t>If wind arrives during a low-price hour, storage can hold part of that energy and release it when the price is higher. The dispatch problem is deciding when that trade is worth it while keeping the battery feasible.</a:t>
            </a:r>
          </a:p>
        </p:txBody>
      </p:sp>
      <p:sp>
        <p:nvSpPr>
          <p:cNvPr id="14" name="">
            <a:extLst xmlns:a="http://schemas.openxmlformats.org/drawingml/2006/main">
              <a:ext uri="{FF2B5EF4-FFF2-40B4-BE49-F238E27FC236}">
                <a16:creationId xmlns:a16="http://schemas.microsoft.com/office/drawing/2014/main" id="{DE305EAF-955E-4329-92D1-24C2D67F6F65}"/>
              </a:ext>
            </a:extLst>
          </p:cNvPr>
          <p:cNvSpPr>
            <a:spLocks xmlns:a="http://schemas.openxmlformats.org/drawingml/2006/main" noGrp="1"/>
          </p:cNvSpPr>
          <p:nvPr/>
        </p:nvSpPr>
        <p:spPr>
          <a:xfrm xmlns:a="http://schemas.openxmlformats.org/drawingml/2006/main">
            <a:off x="590550" y="5238750"/>
            <a:ext cx="6362700" cy="3190875"/>
          </a:xfrm>
          <a:prstGeom xmlns:a="http://schemas.openxmlformats.org/drawingml/2006/main" prst="roundRect">
            <a:avLst>
              <a:gd name="adj" fmla="val 3582"/>
            </a:avLst>
          </a:prstGeom>
          <a:solidFill xmlns:a="http://schemas.openxmlformats.org/drawingml/2006/main">
            <a:srgbClr val="FFFFFF"/>
          </a:solidFill>
          <a:ln xmlns:a="http://schemas.openxmlformats.org/drawingml/2006/main" w="19050">
            <a:solidFill>
              <a:srgbClr val="CBD5D8"/>
            </a:solidFill>
            <a:prstDash val="solid"/>
          </a:ln>
        </p:spPr>
      </p:sp>
      <p:sp>
        <p:nvSpPr>
          <p:cNvPr id="15" name="">
            <a:extLst xmlns:a="http://schemas.openxmlformats.org/drawingml/2006/main">
              <a:ext uri="{FF2B5EF4-FFF2-40B4-BE49-F238E27FC236}">
                <a16:creationId xmlns:a16="http://schemas.microsoft.com/office/drawing/2014/main" id="{5C5B656C-0366-4580-8BE6-125F2740D9DE}"/>
              </a:ext>
            </a:extLst>
          </p:cNvPr>
          <p:cNvSpPr>
            <a:spLocks xmlns:a="http://schemas.openxmlformats.org/drawingml/2006/main" noGrp="1"/>
          </p:cNvSpPr>
          <p:nvPr/>
        </p:nvSpPr>
        <p:spPr>
          <a:xfrm xmlns:a="http://schemas.openxmlformats.org/drawingml/2006/main">
            <a:off x="800100" y="5410200"/>
            <a:ext cx="594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486A86"/>
                </a:solidFill>
              </a:defRPr>
            </a:pPr>
            <a:r>
              <a:rPr sz="2025" b="1">
                <a:solidFill>
                  <a:srgbClr val="486A86"/>
                </a:solidFill>
              </a:rPr>
              <a:t>2. Data and Storage</a:t>
            </a:r>
          </a:p>
        </p:txBody>
      </p:sp>
      <p:sp>
        <p:nvSpPr>
          <p:cNvPr id="16" name="">
            <a:extLst xmlns:a="http://schemas.openxmlformats.org/drawingml/2006/main">
              <a:ext uri="{FF2B5EF4-FFF2-40B4-BE49-F238E27FC236}">
                <a16:creationId xmlns:a16="http://schemas.microsoft.com/office/drawing/2014/main" id="{9696080A-2B1A-4A94-9436-CD1BDA094C1E}"/>
              </a:ext>
            </a:extLst>
          </p:cNvPr>
          <p:cNvSpPr>
            <a:spLocks xmlns:a="http://schemas.openxmlformats.org/drawingml/2006/main" noGrp="1"/>
          </p:cNvSpPr>
          <p:nvPr/>
        </p:nvSpPr>
        <p:spPr>
          <a:xfrm xmlns:a="http://schemas.openxmlformats.org/drawingml/2006/main">
            <a:off x="800100" y="5781675"/>
            <a:ext cx="5943600" cy="38100"/>
          </a:xfrm>
          <a:prstGeom xmlns:a="http://schemas.openxmlformats.org/drawingml/2006/main" prst="rect">
            <a:avLst/>
          </a:prstGeom>
          <a:solidFill xmlns:a="http://schemas.openxmlformats.org/drawingml/2006/main">
            <a:srgbClr val="486A86"/>
          </a:solidFill>
          <a:ln xmlns:a="http://schemas.openxmlformats.org/drawingml/2006/main" w="0">
            <a:solidFill>
              <a:srgbClr val="486A86"/>
            </a:solidFill>
            <a:prstDash val="solid"/>
          </a:ln>
        </p:spPr>
      </p:sp>
      <p:sp>
        <p:nvSpPr>
          <p:cNvPr id="17" name="">
            <a:extLst xmlns:a="http://schemas.openxmlformats.org/drawingml/2006/main">
              <a:ext uri="{FF2B5EF4-FFF2-40B4-BE49-F238E27FC236}">
                <a16:creationId xmlns:a16="http://schemas.microsoft.com/office/drawing/2014/main" id="{D3C27364-C338-4241-B465-BA950FAE98E0}"/>
              </a:ext>
            </a:extLst>
          </p:cNvPr>
          <p:cNvSpPr>
            <a:spLocks xmlns:a="http://schemas.openxmlformats.org/drawingml/2006/main" noGrp="1"/>
          </p:cNvSpPr>
          <p:nvPr/>
        </p:nvSpPr>
        <p:spPr>
          <a:xfrm xmlns:a="http://schemas.openxmlformats.org/drawingml/2006/main">
            <a:off x="857250" y="5981700"/>
            <a:ext cx="58293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F2937"/>
                </a:solidFill>
              </a:defRPr>
            </a:pPr>
            <a:r>
              <a:rPr sz="1200" b="0">
                <a:solidFill>
                  <a:srgbClr val="1F2937"/>
                </a:solidFill>
              </a:rPr>
              <a:t>• Pyron wind farm hourly data, 1980-2023.</a:t>
            </a:r>
          </a:p>
          <a:p xmlns:a="http://schemas.openxmlformats.org/drawingml/2006/main">
            <a:pPr algn="l">
              <a:defRPr sz="1200" b="0">
                <a:solidFill>
                  <a:srgbClr val="1F2937"/>
                </a:solidFill>
              </a:defRPr>
            </a:pPr>
            <a:r>
              <a:rPr sz="1200" b="0">
                <a:solidFill>
                  <a:srgbClr val="1F2937"/>
                </a:solidFill>
              </a:rPr>
              <a:t>• Forecast trained before 2014; tested on unseen 2014-2023.</a:t>
            </a:r>
          </a:p>
          <a:p xmlns:a="http://schemas.openxmlformats.org/drawingml/2006/main">
            <a:pPr algn="l">
              <a:defRPr sz="1200" b="0">
                <a:solidFill>
                  <a:srgbClr val="1F2937"/>
                </a:solidFill>
              </a:defRPr>
            </a:pPr>
            <a:r>
              <a:rPr sz="1200" b="0">
                <a:solidFill>
                  <a:srgbClr val="1F2937"/>
                </a:solidFill>
              </a:rPr>
              <a:t>• ERCOT locational marginal price is used for value.</a:t>
            </a:r>
          </a:p>
          <a:p xmlns:a="http://schemas.openxmlformats.org/drawingml/2006/main">
            <a:pPr algn="l">
              <a:defRPr sz="1200" b="0">
                <a:solidFill>
                  <a:srgbClr val="1F2937"/>
                </a:solidFill>
              </a:defRPr>
            </a:pPr>
            <a:r>
              <a:rPr sz="1200" b="0">
                <a:solidFill>
                  <a:srgbClr val="1F2937"/>
                </a:solidFill>
              </a:rPr>
              <a:t>• CAES: 100 MW, 10 h, 1000 MWh.</a:t>
            </a:r>
          </a:p>
          <a:p xmlns:a="http://schemas.openxmlformats.org/drawingml/2006/main">
            <a:pPr algn="l">
              <a:defRPr sz="1200" b="0">
                <a:solidFill>
                  <a:srgbClr val="1F2937"/>
                </a:solidFill>
              </a:defRPr>
            </a:pPr>
            <a:r>
              <a:rPr sz="1200" b="0">
                <a:solidFill>
                  <a:srgbClr val="1F2937"/>
                </a:solidFill>
              </a:rPr>
              <a:t>• SoC: 200-1000 MWh, starting at 600 MWh.</a:t>
            </a:r>
          </a:p>
          <a:p xmlns:a="http://schemas.openxmlformats.org/drawingml/2006/main">
            <a:pPr algn="l">
              <a:defRPr sz="1200" b="0">
                <a:solidFill>
                  <a:srgbClr val="1F2937"/>
                </a:solidFill>
              </a:defRPr>
            </a:pPr>
            <a:r>
              <a:rPr sz="1200" b="0">
                <a:solidFill>
                  <a:srgbClr val="1F2937"/>
                </a:solidFill>
              </a:rPr>
              <a:t>• RTE: 55%, no grid charging, 249 MW grid cap.</a:t>
            </a:r>
          </a:p>
        </p:txBody>
      </p:sp>
      <p:sp>
        <p:nvSpPr>
          <p:cNvPr id="18" name="">
            <a:extLst xmlns:a="http://schemas.openxmlformats.org/drawingml/2006/main">
              <a:ext uri="{FF2B5EF4-FFF2-40B4-BE49-F238E27FC236}">
                <a16:creationId xmlns:a16="http://schemas.microsoft.com/office/drawing/2014/main" id="{436E8212-E40C-4CA3-9FFC-D12351741909}"/>
              </a:ext>
            </a:extLst>
          </p:cNvPr>
          <p:cNvSpPr>
            <a:spLocks xmlns:a="http://schemas.openxmlformats.org/drawingml/2006/main" noGrp="1"/>
          </p:cNvSpPr>
          <p:nvPr/>
        </p:nvSpPr>
        <p:spPr>
          <a:xfrm xmlns:a="http://schemas.openxmlformats.org/drawingml/2006/main">
            <a:off x="857250" y="7648575"/>
            <a:ext cx="582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486A86"/>
                </a:solidFill>
              </a:defRPr>
            </a:pPr>
            <a:r>
              <a:rPr sz="1200" b="1">
                <a:solidFill>
                  <a:srgbClr val="486A86"/>
                </a:solidFill>
              </a:rPr>
              <a:t>What the model sees</a:t>
            </a:r>
          </a:p>
        </p:txBody>
      </p:sp>
      <p:sp>
        <p:nvSpPr>
          <p:cNvPr id="19" name="">
            <a:extLst xmlns:a="http://schemas.openxmlformats.org/drawingml/2006/main">
              <a:ext uri="{FF2B5EF4-FFF2-40B4-BE49-F238E27FC236}">
                <a16:creationId xmlns:a16="http://schemas.microsoft.com/office/drawing/2014/main" id="{6C129EDB-01FA-4CC8-852A-69A4D5F26518}"/>
              </a:ext>
            </a:extLst>
          </p:cNvPr>
          <p:cNvSpPr>
            <a:spLocks xmlns:a="http://schemas.openxmlformats.org/drawingml/2006/main" noGrp="1"/>
          </p:cNvSpPr>
          <p:nvPr/>
        </p:nvSpPr>
        <p:spPr>
          <a:xfrm xmlns:a="http://schemas.openxmlformats.org/drawingml/2006/main">
            <a:off x="857250" y="7896225"/>
            <a:ext cx="582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334155"/>
                </a:solidFill>
              </a:defRPr>
            </a:pPr>
            <a:r>
              <a:rPr sz="975" b="0">
                <a:solidFill>
                  <a:srgbClr val="334155"/>
                </a:solidFill>
              </a:rPr>
              <a:t>The controller does not receive the true future in deployable cases. It receives forecasted wind generation and forecasted price, then the realized data is used later for scoring.</a:t>
            </a:r>
          </a:p>
        </p:txBody>
      </p:sp>
      <p:sp>
        <p:nvSpPr>
          <p:cNvPr id="20" name="">
            <a:extLst xmlns:a="http://schemas.openxmlformats.org/drawingml/2006/main">
              <a:ext uri="{FF2B5EF4-FFF2-40B4-BE49-F238E27FC236}">
                <a16:creationId xmlns:a16="http://schemas.microsoft.com/office/drawing/2014/main" id="{4C6BF06D-4540-40F6-B34C-F0CFD44E5C0E}"/>
              </a:ext>
            </a:extLst>
          </p:cNvPr>
          <p:cNvSpPr>
            <a:spLocks xmlns:a="http://schemas.openxmlformats.org/drawingml/2006/main" noGrp="1"/>
          </p:cNvSpPr>
          <p:nvPr/>
        </p:nvSpPr>
        <p:spPr>
          <a:xfrm xmlns:a="http://schemas.openxmlformats.org/drawingml/2006/main">
            <a:off x="628650" y="8705850"/>
            <a:ext cx="6286500" cy="2495550"/>
          </a:xfrm>
          <a:prstGeom xmlns:a="http://schemas.openxmlformats.org/drawingml/2006/main" prst="roundRect">
            <a:avLst>
              <a:gd name="adj" fmla="val 3817"/>
            </a:avLst>
          </a:prstGeom>
          <a:solidFill xmlns:a="http://schemas.openxmlformats.org/drawingml/2006/main">
            <a:srgbClr val="FFFFFF"/>
          </a:solidFill>
          <a:ln xmlns:a="http://schemas.openxmlformats.org/drawingml/2006/main" w="19050">
            <a:solidFill>
              <a:srgbClr val="D1D5DB"/>
            </a:solidFill>
            <a:prstDash val="solid"/>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a3c85f5cced2463c"/>
          <a:stretch xmlns:a="http://schemas.openxmlformats.org/drawingml/2006/main"/>
        </p:blipFill>
        <p:spPr>
          <a:xfrm xmlns:a="http://schemas.openxmlformats.org/drawingml/2006/main">
            <a:off x="1586103" y="8763000"/>
            <a:ext cx="4371593" cy="23812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DE9A9BDD-CB65-4362-9A1A-9D34FE6A84CA}"/>
              </a:ext>
            </a:extLst>
          </p:cNvPr>
          <p:cNvSpPr>
            <a:spLocks xmlns:a="http://schemas.openxmlformats.org/drawingml/2006/main" noGrp="1"/>
          </p:cNvSpPr>
          <p:nvPr/>
        </p:nvSpPr>
        <p:spPr>
          <a:xfrm xmlns:a="http://schemas.openxmlformats.org/drawingml/2006/main">
            <a:off x="781050" y="11220450"/>
            <a:ext cx="598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34155"/>
                </a:solidFill>
              </a:defRPr>
            </a:pPr>
            <a:r>
              <a:rPr sz="1050" b="0">
                <a:solidFill>
                  <a:srgbClr val="334155"/>
                </a:solidFill>
              </a:rPr>
              <a:t>Forecast result: causal lag/ridge was the best power forecast, with 21.24 MW RMSE.</a:t>
            </a:r>
          </a:p>
        </p:txBody>
      </p:sp>
      <p:sp>
        <p:nvSpPr>
          <p:cNvPr id="23" name="">
            <a:extLst xmlns:a="http://schemas.openxmlformats.org/drawingml/2006/main">
              <a:ext uri="{FF2B5EF4-FFF2-40B4-BE49-F238E27FC236}">
                <a16:creationId xmlns:a16="http://schemas.microsoft.com/office/drawing/2014/main" id="{C72CEF9E-AEFC-4E01-8D31-CC0BFCB64B06}"/>
              </a:ext>
            </a:extLst>
          </p:cNvPr>
          <p:cNvSpPr>
            <a:spLocks xmlns:a="http://schemas.openxmlformats.org/drawingml/2006/main" noGrp="1"/>
          </p:cNvSpPr>
          <p:nvPr/>
        </p:nvSpPr>
        <p:spPr>
          <a:xfrm xmlns:a="http://schemas.openxmlformats.org/drawingml/2006/main">
            <a:off x="7258050" y="1990725"/>
            <a:ext cx="6286500" cy="2019300"/>
          </a:xfrm>
          <a:prstGeom xmlns:a="http://schemas.openxmlformats.org/drawingml/2006/main" prst="roundRect">
            <a:avLst>
              <a:gd name="adj" fmla="val 4717"/>
            </a:avLst>
          </a:prstGeom>
          <a:solidFill xmlns:a="http://schemas.openxmlformats.org/drawingml/2006/main">
            <a:srgbClr val="FFFFFF"/>
          </a:solidFill>
          <a:ln xmlns:a="http://schemas.openxmlformats.org/drawingml/2006/main" w="19050">
            <a:solidFill>
              <a:srgbClr val="D1D5DB"/>
            </a:solidFill>
            <a:prstDash val="solid"/>
          </a:ln>
        </p:spPr>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d2f1ecaa3f39452e"/>
          <a:stretch xmlns:a="http://schemas.openxmlformats.org/drawingml/2006/main"/>
        </p:blipFill>
        <p:spPr>
          <a:xfrm xmlns:a="http://schemas.openxmlformats.org/drawingml/2006/main">
            <a:off x="7543800" y="2047875"/>
            <a:ext cx="5715000" cy="19050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C3ECB64B-5252-4172-ADAA-78BB90DA1ACA}"/>
              </a:ext>
            </a:extLst>
          </p:cNvPr>
          <p:cNvSpPr>
            <a:spLocks xmlns:a="http://schemas.openxmlformats.org/drawingml/2006/main" noGrp="1"/>
          </p:cNvSpPr>
          <p:nvPr/>
        </p:nvSpPr>
        <p:spPr>
          <a:xfrm xmlns:a="http://schemas.openxmlformats.org/drawingml/2006/main">
            <a:off x="7410450" y="4029075"/>
            <a:ext cx="598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334155"/>
                </a:solidFill>
              </a:defRPr>
            </a:pPr>
            <a:r>
              <a:rPr sz="1125" b="0">
                <a:solidFill>
                  <a:srgbClr val="334155"/>
                </a:solidFill>
              </a:rPr>
              <a:t>The pipeline predicts wind/price, sends those forecasts to Gurobi, executes dispatch, then scores revenue and COVE.</a:t>
            </a:r>
          </a:p>
        </p:txBody>
      </p:sp>
      <p:sp>
        <p:nvSpPr>
          <p:cNvPr id="26" name="">
            <a:extLst xmlns:a="http://schemas.openxmlformats.org/drawingml/2006/main">
              <a:ext uri="{FF2B5EF4-FFF2-40B4-BE49-F238E27FC236}">
                <a16:creationId xmlns:a16="http://schemas.microsoft.com/office/drawing/2014/main" id="{06D3F9FF-D9DD-44DF-B3CB-FD267875CE84}"/>
              </a:ext>
            </a:extLst>
          </p:cNvPr>
          <p:cNvSpPr>
            <a:spLocks xmlns:a="http://schemas.openxmlformats.org/drawingml/2006/main" noGrp="1"/>
          </p:cNvSpPr>
          <p:nvPr/>
        </p:nvSpPr>
        <p:spPr>
          <a:xfrm xmlns:a="http://schemas.openxmlformats.org/drawingml/2006/main">
            <a:off x="7410450" y="4448175"/>
            <a:ext cx="598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5472"/>
                </a:solidFill>
              </a:defRPr>
            </a:pPr>
            <a:r>
              <a:rPr sz="975" b="0">
                <a:solidFill>
                  <a:srgbClr val="5F5472"/>
                </a:solidFill>
              </a:rPr>
              <a:t>The important idea is separation: forecasts are guesses, Gurobi is the planner, and realized operation is the final truth used for revenue and COVE.</a:t>
            </a:r>
          </a:p>
        </p:txBody>
      </p:sp>
      <p:sp>
        <p:nvSpPr>
          <p:cNvPr id="27" name="">
            <a:extLst xmlns:a="http://schemas.openxmlformats.org/drawingml/2006/main">
              <a:ext uri="{FF2B5EF4-FFF2-40B4-BE49-F238E27FC236}">
                <a16:creationId xmlns:a16="http://schemas.microsoft.com/office/drawing/2014/main" id="{ABB0C3E3-8F2B-4C0C-8A30-0E1A1092580B}"/>
              </a:ext>
            </a:extLst>
          </p:cNvPr>
          <p:cNvSpPr>
            <a:spLocks xmlns:a="http://schemas.openxmlformats.org/drawingml/2006/main" noGrp="1"/>
          </p:cNvSpPr>
          <p:nvPr/>
        </p:nvSpPr>
        <p:spPr>
          <a:xfrm xmlns:a="http://schemas.openxmlformats.org/drawingml/2006/main">
            <a:off x="7219950" y="4829175"/>
            <a:ext cx="63627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19050">
            <a:solidFill>
              <a:srgbClr val="CFC7DC"/>
            </a:solidFill>
            <a:prstDash val="solid"/>
          </a:ln>
        </p:spPr>
      </p:sp>
      <p:sp>
        <p:nvSpPr>
          <p:cNvPr id="28" name="">
            <a:extLst xmlns:a="http://schemas.openxmlformats.org/drawingml/2006/main">
              <a:ext uri="{FF2B5EF4-FFF2-40B4-BE49-F238E27FC236}">
                <a16:creationId xmlns:a16="http://schemas.microsoft.com/office/drawing/2014/main" id="{D7D5714D-E44B-4A94-A858-7ECC07C9EA72}"/>
              </a:ext>
            </a:extLst>
          </p:cNvPr>
          <p:cNvSpPr>
            <a:spLocks xmlns:a="http://schemas.openxmlformats.org/drawingml/2006/main" noGrp="1"/>
          </p:cNvSpPr>
          <p:nvPr/>
        </p:nvSpPr>
        <p:spPr>
          <a:xfrm xmlns:a="http://schemas.openxmlformats.org/drawingml/2006/main">
            <a:off x="7429500" y="5000625"/>
            <a:ext cx="594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5F5472"/>
                </a:solidFill>
              </a:defRPr>
            </a:pPr>
            <a:r>
              <a:rPr sz="2025" b="1">
                <a:solidFill>
                  <a:srgbClr val="5F5472"/>
                </a:solidFill>
              </a:rPr>
              <a:t>3. MILP Dispatch</a:t>
            </a:r>
          </a:p>
        </p:txBody>
      </p:sp>
      <p:sp>
        <p:nvSpPr>
          <p:cNvPr id="29" name="">
            <a:extLst xmlns:a="http://schemas.openxmlformats.org/drawingml/2006/main">
              <a:ext uri="{FF2B5EF4-FFF2-40B4-BE49-F238E27FC236}">
                <a16:creationId xmlns:a16="http://schemas.microsoft.com/office/drawing/2014/main" id="{3A2A5344-2E72-49F6-8026-F7933951BAC0}"/>
              </a:ext>
            </a:extLst>
          </p:cNvPr>
          <p:cNvSpPr>
            <a:spLocks xmlns:a="http://schemas.openxmlformats.org/drawingml/2006/main" noGrp="1"/>
          </p:cNvSpPr>
          <p:nvPr/>
        </p:nvSpPr>
        <p:spPr>
          <a:xfrm xmlns:a="http://schemas.openxmlformats.org/drawingml/2006/main">
            <a:off x="7429500" y="5372100"/>
            <a:ext cx="5943600" cy="38100"/>
          </a:xfrm>
          <a:prstGeom xmlns:a="http://schemas.openxmlformats.org/drawingml/2006/main" prst="rect">
            <a:avLst/>
          </a:prstGeom>
          <a:solidFill xmlns:a="http://schemas.openxmlformats.org/drawingml/2006/main">
            <a:srgbClr val="5F5472"/>
          </a:solidFill>
          <a:ln xmlns:a="http://schemas.openxmlformats.org/drawingml/2006/main" w="0">
            <a:solidFill>
              <a:srgbClr val="5F5472"/>
            </a:solidFill>
            <a:prstDash val="solid"/>
          </a:ln>
        </p:spPr>
      </p:sp>
      <p:sp>
        <p:nvSpPr>
          <p:cNvPr id="30" name="">
            <a:extLst xmlns:a="http://schemas.openxmlformats.org/drawingml/2006/main">
              <a:ext uri="{FF2B5EF4-FFF2-40B4-BE49-F238E27FC236}">
                <a16:creationId xmlns:a16="http://schemas.microsoft.com/office/drawing/2014/main" id="{26BA9481-B829-48B8-B59B-33793305F9BD}"/>
              </a:ext>
            </a:extLst>
          </p:cNvPr>
          <p:cNvSpPr>
            <a:spLocks xmlns:a="http://schemas.openxmlformats.org/drawingml/2006/main" noGrp="1"/>
          </p:cNvSpPr>
          <p:nvPr/>
        </p:nvSpPr>
        <p:spPr>
          <a:xfrm xmlns:a="http://schemas.openxmlformats.org/drawingml/2006/main">
            <a:off x="7486650" y="5572125"/>
            <a:ext cx="58293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F2937"/>
                </a:solidFill>
              </a:defRPr>
            </a:pPr>
            <a:r>
              <a:rPr sz="1200" b="0">
                <a:solidFill>
                  <a:srgbClr val="1F2937"/>
                </a:solidFill>
              </a:rPr>
              <a:t>• Gurobi chooses direct wind, charge, discharge, SoC, and curtailment.</a:t>
            </a:r>
          </a:p>
          <a:p xmlns:a="http://schemas.openxmlformats.org/drawingml/2006/main">
            <a:pPr algn="l">
              <a:defRPr sz="1200" b="0">
                <a:solidFill>
                  <a:srgbClr val="1F2937"/>
                </a:solidFill>
              </a:defRPr>
            </a:pPr>
            <a:r>
              <a:rPr sz="1200" b="0">
                <a:solidFill>
                  <a:srgbClr val="1F2937"/>
                </a:solidFill>
              </a:rPr>
              <a:t>• Charging must come from wind, not the grid.</a:t>
            </a:r>
          </a:p>
          <a:p xmlns:a="http://schemas.openxmlformats.org/drawingml/2006/main">
            <a:pPr algn="l">
              <a:defRPr sz="1200" b="0">
                <a:solidFill>
                  <a:srgbClr val="1F2937"/>
                </a:solidFill>
              </a:defRPr>
            </a:pPr>
            <a:r>
              <a:rPr sz="1200" b="0">
                <a:solidFill>
                  <a:srgbClr val="1F2937"/>
                </a:solidFill>
              </a:rPr>
              <a:t>• The battery cannot charge and discharge beyond its physical limits.</a:t>
            </a:r>
          </a:p>
          <a:p xmlns:a="http://schemas.openxmlformats.org/drawingml/2006/main">
            <a:pPr algn="l">
              <a:defRPr sz="1200" b="0">
                <a:solidFill>
                  <a:srgbClr val="1F2937"/>
                </a:solidFill>
              </a:defRPr>
            </a:pPr>
            <a:r>
              <a:rPr sz="1200" b="0">
                <a:solidFill>
                  <a:srgbClr val="1F2937"/>
                </a:solidFill>
              </a:rPr>
              <a:t>• Revenue is delivered power times realized price.</a:t>
            </a:r>
          </a:p>
          <a:p xmlns:a="http://schemas.openxmlformats.org/drawingml/2006/main">
            <a:pPr algn="l">
              <a:defRPr sz="1200" b="0">
                <a:solidFill>
                  <a:srgbClr val="1F2937"/>
                </a:solidFill>
              </a:defRPr>
            </a:pPr>
            <a:r>
              <a:rPr sz="1200" b="0">
                <a:solidFill>
                  <a:srgbClr val="1F2937"/>
                </a:solidFill>
              </a:rPr>
              <a:t>• COVE is lower when energy is delivered at higher value.</a:t>
            </a:r>
          </a:p>
        </p:txBody>
      </p:sp>
      <p:sp>
        <p:nvSpPr>
          <p:cNvPr id="31" name="">
            <a:extLst xmlns:a="http://schemas.openxmlformats.org/drawingml/2006/main">
              <a:ext uri="{FF2B5EF4-FFF2-40B4-BE49-F238E27FC236}">
                <a16:creationId xmlns:a16="http://schemas.microsoft.com/office/drawing/2014/main" id="{4466F16C-8DE9-45C6-842B-86B5AB872590}"/>
              </a:ext>
            </a:extLst>
          </p:cNvPr>
          <p:cNvSpPr>
            <a:spLocks xmlns:a="http://schemas.openxmlformats.org/drawingml/2006/main" noGrp="1"/>
          </p:cNvSpPr>
          <p:nvPr/>
        </p:nvSpPr>
        <p:spPr>
          <a:xfrm xmlns:a="http://schemas.openxmlformats.org/drawingml/2006/main">
            <a:off x="7277100" y="7372350"/>
            <a:ext cx="6248400" cy="1828800"/>
          </a:xfrm>
          <a:prstGeom xmlns:a="http://schemas.openxmlformats.org/drawingml/2006/main" prst="roundRect">
            <a:avLst>
              <a:gd name="adj" fmla="val 5208"/>
            </a:avLst>
          </a:prstGeom>
          <a:solidFill xmlns:a="http://schemas.openxmlformats.org/drawingml/2006/main">
            <a:srgbClr val="FFFFFF"/>
          </a:solidFill>
          <a:ln xmlns:a="http://schemas.openxmlformats.org/drawingml/2006/main" w="19050">
            <a:solidFill>
              <a:srgbClr val="D1D5DB"/>
            </a:solidFill>
            <a:prstDash val="solid"/>
          </a:ln>
        </p:spPr>
      </p:sp>
      <p:pic>
        <p:nvPicPr>
          <p:cNvPr id="165" name=""/>
          <p:cNvPicPr>
            <a:picLocks xmlns:a="http://schemas.openxmlformats.org/drawingml/2006/main" noChangeAspect="1"/>
          </p:cNvPicPr>
          <p:nvPr/>
        </p:nvPicPr>
        <p:blipFill>
          <a:blip xmlns:r="http://schemas.openxmlformats.org/officeDocument/2006/relationships" xmlns:a="http://schemas.openxmlformats.org/drawingml/2006/main" r:embed="Rf613aec5c61241e5"/>
          <a:stretch xmlns:a="http://schemas.openxmlformats.org/drawingml/2006/main"/>
        </p:blipFill>
        <p:spPr>
          <a:xfrm xmlns:a="http://schemas.openxmlformats.org/drawingml/2006/main">
            <a:off x="8965270" y="7429500"/>
            <a:ext cx="2872061" cy="17145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B6103430-8390-4428-9032-C3012251B70C}"/>
              </a:ext>
            </a:extLst>
          </p:cNvPr>
          <p:cNvSpPr>
            <a:spLocks xmlns:a="http://schemas.openxmlformats.org/drawingml/2006/main" noGrp="1"/>
          </p:cNvSpPr>
          <p:nvPr/>
        </p:nvSpPr>
        <p:spPr>
          <a:xfrm xmlns:a="http://schemas.openxmlformats.org/drawingml/2006/main">
            <a:off x="7258050" y="9467850"/>
            <a:ext cx="6286500" cy="2209800"/>
          </a:xfrm>
          <a:prstGeom xmlns:a="http://schemas.openxmlformats.org/drawingml/2006/main" prst="roundRect">
            <a:avLst>
              <a:gd name="adj" fmla="val 4310"/>
            </a:avLst>
          </a:prstGeom>
          <a:solidFill xmlns:a="http://schemas.openxmlformats.org/drawingml/2006/main">
            <a:srgbClr val="FFFFFF"/>
          </a:solidFill>
          <a:ln xmlns:a="http://schemas.openxmlformats.org/drawingml/2006/main" w="19050">
            <a:solidFill>
              <a:srgbClr val="D1D5DB"/>
            </a:solidFill>
            <a:prstDash val="solid"/>
          </a:ln>
        </p:spPr>
      </p:sp>
      <p:pic>
        <p:nvPicPr>
          <p:cNvPr id="167" name=""/>
          <p:cNvPicPr>
            <a:picLocks xmlns:a="http://schemas.openxmlformats.org/drawingml/2006/main" noChangeAspect="1"/>
          </p:cNvPicPr>
          <p:nvPr/>
        </p:nvPicPr>
        <p:blipFill>
          <a:blip xmlns:r="http://schemas.openxmlformats.org/officeDocument/2006/relationships" xmlns:a="http://schemas.openxmlformats.org/drawingml/2006/main" r:embed="R7e0611fd2cd449a7"/>
          <a:stretch xmlns:a="http://schemas.openxmlformats.org/drawingml/2006/main"/>
        </p:blipFill>
        <p:spPr>
          <a:xfrm xmlns:a="http://schemas.openxmlformats.org/drawingml/2006/main">
            <a:off x="8690853" y="9525000"/>
            <a:ext cx="3420894" cy="20955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B3DBA156-CCF1-4F20-BD48-E63680CD4756}"/>
              </a:ext>
            </a:extLst>
          </p:cNvPr>
          <p:cNvSpPr>
            <a:spLocks xmlns:a="http://schemas.openxmlformats.org/drawingml/2006/main" noGrp="1"/>
          </p:cNvSpPr>
          <p:nvPr/>
        </p:nvSpPr>
        <p:spPr>
          <a:xfrm xmlns:a="http://schemas.openxmlformats.org/drawingml/2006/main">
            <a:off x="7410450" y="11668125"/>
            <a:ext cx="598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334155"/>
                </a:solidFill>
              </a:defRPr>
            </a:pPr>
            <a:r>
              <a:rPr sz="975" b="0">
                <a:solidFill>
                  <a:srgbClr val="334155"/>
                </a:solidFill>
              </a:rPr>
              <a:t>The ladder is not just decoration: each step adds one layer of information or control. Forecasting answers what may happen; rolling horizon decides how far to plan; scenarios add uncertainty; oracle shows the ceiling.</a:t>
            </a:r>
          </a:p>
        </p:txBody>
      </p:sp>
      <p:sp>
        <p:nvSpPr>
          <p:cNvPr id="36" name="">
            <a:extLst xmlns:a="http://schemas.openxmlformats.org/drawingml/2006/main">
              <a:ext uri="{FF2B5EF4-FFF2-40B4-BE49-F238E27FC236}">
                <a16:creationId xmlns:a16="http://schemas.microsoft.com/office/drawing/2014/main" id="{C8980529-7070-4F47-A691-91D12A095511}"/>
              </a:ext>
            </a:extLst>
          </p:cNvPr>
          <p:cNvSpPr>
            <a:spLocks xmlns:a="http://schemas.openxmlformats.org/drawingml/2006/main" noGrp="1"/>
          </p:cNvSpPr>
          <p:nvPr/>
        </p:nvSpPr>
        <p:spPr>
          <a:xfrm xmlns:a="http://schemas.openxmlformats.org/drawingml/2006/main">
            <a:off x="13849350" y="2047875"/>
            <a:ext cx="1463421" cy="514350"/>
          </a:xfrm>
          <a:prstGeom xmlns:a="http://schemas.openxmlformats.org/drawingml/2006/main" prst="rect">
            <a:avLst/>
          </a:prstGeom>
          <a:solidFill xmlns:a="http://schemas.openxmlformats.org/drawingml/2006/main">
            <a:srgbClr val="315F5B"/>
          </a:solidFill>
          <a:ln xmlns:a="http://schemas.openxmlformats.org/drawingml/2006/main" w="9525">
            <a:solidFill>
              <a:srgbClr val="9CA3AF"/>
            </a:solidFill>
            <a:prstDash val="solid"/>
          </a:ln>
        </p:spPr>
      </p:sp>
      <p:sp>
        <p:nvSpPr>
          <p:cNvPr id="37" name="">
            <a:extLst xmlns:a="http://schemas.openxmlformats.org/drawingml/2006/main">
              <a:ext uri="{FF2B5EF4-FFF2-40B4-BE49-F238E27FC236}">
                <a16:creationId xmlns:a16="http://schemas.microsoft.com/office/drawing/2014/main" id="{D47A2A85-F072-49B7-9933-1E97C8E74485}"/>
              </a:ext>
            </a:extLst>
          </p:cNvPr>
          <p:cNvSpPr>
            <a:spLocks xmlns:a="http://schemas.openxmlformats.org/drawingml/2006/main" noGrp="1"/>
          </p:cNvSpPr>
          <p:nvPr/>
        </p:nvSpPr>
        <p:spPr>
          <a:xfrm xmlns:a="http://schemas.openxmlformats.org/drawingml/2006/main">
            <a:off x="13944600" y="2124075"/>
            <a:ext cx="1272921"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Part</a:t>
            </a:r>
          </a:p>
        </p:txBody>
      </p:sp>
      <p:sp>
        <p:nvSpPr>
          <p:cNvPr id="38" name="">
            <a:extLst xmlns:a="http://schemas.openxmlformats.org/drawingml/2006/main">
              <a:ext uri="{FF2B5EF4-FFF2-40B4-BE49-F238E27FC236}">
                <a16:creationId xmlns:a16="http://schemas.microsoft.com/office/drawing/2014/main" id="{314D4A5B-2DB9-4555-9D5A-434FBCB5A956}"/>
              </a:ext>
            </a:extLst>
          </p:cNvPr>
          <p:cNvSpPr>
            <a:spLocks xmlns:a="http://schemas.openxmlformats.org/drawingml/2006/main" noGrp="1"/>
          </p:cNvSpPr>
          <p:nvPr/>
        </p:nvSpPr>
        <p:spPr>
          <a:xfrm xmlns:a="http://schemas.openxmlformats.org/drawingml/2006/main">
            <a:off x="15312771" y="2047875"/>
            <a:ext cx="2672334" cy="514350"/>
          </a:xfrm>
          <a:prstGeom xmlns:a="http://schemas.openxmlformats.org/drawingml/2006/main" prst="rect">
            <a:avLst/>
          </a:prstGeom>
          <a:solidFill xmlns:a="http://schemas.openxmlformats.org/drawingml/2006/main">
            <a:srgbClr val="315F5B"/>
          </a:solidFill>
          <a:ln xmlns:a="http://schemas.openxmlformats.org/drawingml/2006/main" w="9525">
            <a:solidFill>
              <a:srgbClr val="9CA3AF"/>
            </a:solidFill>
            <a:prstDash val="solid"/>
          </a:ln>
        </p:spPr>
      </p:sp>
      <p:sp>
        <p:nvSpPr>
          <p:cNvPr id="39" name="">
            <a:extLst xmlns:a="http://schemas.openxmlformats.org/drawingml/2006/main">
              <a:ext uri="{FF2B5EF4-FFF2-40B4-BE49-F238E27FC236}">
                <a16:creationId xmlns:a16="http://schemas.microsoft.com/office/drawing/2014/main" id="{412BCC38-360D-45CE-92E5-E33825858524}"/>
              </a:ext>
            </a:extLst>
          </p:cNvPr>
          <p:cNvSpPr>
            <a:spLocks xmlns:a="http://schemas.openxmlformats.org/drawingml/2006/main" noGrp="1"/>
          </p:cNvSpPr>
          <p:nvPr/>
        </p:nvSpPr>
        <p:spPr>
          <a:xfrm xmlns:a="http://schemas.openxmlformats.org/drawingml/2006/main">
            <a:off x="15408021" y="2124075"/>
            <a:ext cx="2481834"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What changed</a:t>
            </a:r>
          </a:p>
        </p:txBody>
      </p:sp>
      <p:sp>
        <p:nvSpPr>
          <p:cNvPr id="40" name="">
            <a:extLst xmlns:a="http://schemas.openxmlformats.org/drawingml/2006/main">
              <a:ext uri="{FF2B5EF4-FFF2-40B4-BE49-F238E27FC236}">
                <a16:creationId xmlns:a16="http://schemas.microsoft.com/office/drawing/2014/main" id="{4116A778-9A87-4B23-8113-A632C2C3BF33}"/>
              </a:ext>
            </a:extLst>
          </p:cNvPr>
          <p:cNvSpPr>
            <a:spLocks xmlns:a="http://schemas.openxmlformats.org/drawingml/2006/main" noGrp="1"/>
          </p:cNvSpPr>
          <p:nvPr/>
        </p:nvSpPr>
        <p:spPr>
          <a:xfrm xmlns:a="http://schemas.openxmlformats.org/drawingml/2006/main">
            <a:off x="17985105" y="2047875"/>
            <a:ext cx="2226945" cy="514350"/>
          </a:xfrm>
          <a:prstGeom xmlns:a="http://schemas.openxmlformats.org/drawingml/2006/main" prst="rect">
            <a:avLst/>
          </a:prstGeom>
          <a:solidFill xmlns:a="http://schemas.openxmlformats.org/drawingml/2006/main">
            <a:srgbClr val="315F5B"/>
          </a:solidFill>
          <a:ln xmlns:a="http://schemas.openxmlformats.org/drawingml/2006/main" w="9525">
            <a:solidFill>
              <a:srgbClr val="9CA3AF"/>
            </a:solidFill>
            <a:prstDash val="solid"/>
          </a:ln>
        </p:spPr>
      </p:sp>
      <p:sp>
        <p:nvSpPr>
          <p:cNvPr id="41" name="">
            <a:extLst xmlns:a="http://schemas.openxmlformats.org/drawingml/2006/main">
              <a:ext uri="{FF2B5EF4-FFF2-40B4-BE49-F238E27FC236}">
                <a16:creationId xmlns:a16="http://schemas.microsoft.com/office/drawing/2014/main" id="{220EAA9B-0E0C-4D13-BF00-92BE389CA49E}"/>
              </a:ext>
            </a:extLst>
          </p:cNvPr>
          <p:cNvSpPr>
            <a:spLocks xmlns:a="http://schemas.openxmlformats.org/drawingml/2006/main" noGrp="1"/>
          </p:cNvSpPr>
          <p:nvPr/>
        </p:nvSpPr>
        <p:spPr>
          <a:xfrm xmlns:a="http://schemas.openxmlformats.org/drawingml/2006/main">
            <a:off x="18080355" y="2124075"/>
            <a:ext cx="203644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Best output</a:t>
            </a:r>
          </a:p>
        </p:txBody>
      </p:sp>
      <p:sp>
        <p:nvSpPr>
          <p:cNvPr id="42" name="">
            <a:extLst xmlns:a="http://schemas.openxmlformats.org/drawingml/2006/main">
              <a:ext uri="{FF2B5EF4-FFF2-40B4-BE49-F238E27FC236}">
                <a16:creationId xmlns:a16="http://schemas.microsoft.com/office/drawing/2014/main" id="{D936732A-387E-4D24-8654-7FEE5CFCD3E1}"/>
              </a:ext>
            </a:extLst>
          </p:cNvPr>
          <p:cNvSpPr>
            <a:spLocks xmlns:a="http://schemas.openxmlformats.org/drawingml/2006/main" noGrp="1"/>
          </p:cNvSpPr>
          <p:nvPr/>
        </p:nvSpPr>
        <p:spPr>
          <a:xfrm xmlns:a="http://schemas.openxmlformats.org/drawingml/2006/main">
            <a:off x="13849350" y="2562225"/>
            <a:ext cx="1463421" cy="514350"/>
          </a:xfrm>
          <a:prstGeom xmlns:a="http://schemas.openxmlformats.org/drawingml/2006/main" prst="rect">
            <a:avLst/>
          </a:prstGeom>
          <a:solidFill xmlns:a="http://schemas.openxmlformats.org/drawingml/2006/main">
            <a:srgbClr val="EEF5EF"/>
          </a:solidFill>
          <a:ln xmlns:a="http://schemas.openxmlformats.org/drawingml/2006/main" w="9525">
            <a:solidFill>
              <a:srgbClr val="9CA3AF"/>
            </a:solidFill>
            <a:prstDash val="solid"/>
          </a:ln>
        </p:spPr>
      </p:sp>
      <p:sp>
        <p:nvSpPr>
          <p:cNvPr id="43" name="">
            <a:extLst xmlns:a="http://schemas.openxmlformats.org/drawingml/2006/main">
              <a:ext uri="{FF2B5EF4-FFF2-40B4-BE49-F238E27FC236}">
                <a16:creationId xmlns:a16="http://schemas.microsoft.com/office/drawing/2014/main" id="{CAD90352-5266-402C-8157-8786BA00CF0C}"/>
              </a:ext>
            </a:extLst>
          </p:cNvPr>
          <p:cNvSpPr>
            <a:spLocks xmlns:a="http://schemas.openxmlformats.org/drawingml/2006/main" noGrp="1"/>
          </p:cNvSpPr>
          <p:nvPr/>
        </p:nvSpPr>
        <p:spPr>
          <a:xfrm xmlns:a="http://schemas.openxmlformats.org/drawingml/2006/main">
            <a:off x="13944600" y="2638425"/>
            <a:ext cx="1272921"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11827"/>
                </a:solidFill>
              </a:defRPr>
            </a:pPr>
            <a:r>
              <a:rPr sz="1050" b="1">
                <a:solidFill>
                  <a:srgbClr val="111827"/>
                </a:solidFill>
              </a:rPr>
              <a:t>Forecast</a:t>
            </a:r>
          </a:p>
        </p:txBody>
      </p:sp>
      <p:sp>
        <p:nvSpPr>
          <p:cNvPr id="44" name="">
            <a:extLst xmlns:a="http://schemas.openxmlformats.org/drawingml/2006/main">
              <a:ext uri="{FF2B5EF4-FFF2-40B4-BE49-F238E27FC236}">
                <a16:creationId xmlns:a16="http://schemas.microsoft.com/office/drawing/2014/main" id="{081FF1F9-7461-453E-83E9-1C6E9754716B}"/>
              </a:ext>
            </a:extLst>
          </p:cNvPr>
          <p:cNvSpPr>
            <a:spLocks xmlns:a="http://schemas.openxmlformats.org/drawingml/2006/main" noGrp="1"/>
          </p:cNvSpPr>
          <p:nvPr/>
        </p:nvSpPr>
        <p:spPr>
          <a:xfrm xmlns:a="http://schemas.openxmlformats.org/drawingml/2006/main">
            <a:off x="15312771" y="2562225"/>
            <a:ext cx="2672334" cy="514350"/>
          </a:xfrm>
          <a:prstGeom xmlns:a="http://schemas.openxmlformats.org/drawingml/2006/main" prst="rect">
            <a:avLst/>
          </a:prstGeom>
          <a:solidFill xmlns:a="http://schemas.openxmlformats.org/drawingml/2006/main">
            <a:srgbClr val="EEF5EF"/>
          </a:solidFill>
          <a:ln xmlns:a="http://schemas.openxmlformats.org/drawingml/2006/main" w="9525">
            <a:solidFill>
              <a:srgbClr val="9CA3AF"/>
            </a:solidFill>
            <a:prstDash val="solid"/>
          </a:ln>
        </p:spPr>
      </p:sp>
      <p:sp>
        <p:nvSpPr>
          <p:cNvPr id="45" name="">
            <a:extLst xmlns:a="http://schemas.openxmlformats.org/drawingml/2006/main">
              <a:ext uri="{FF2B5EF4-FFF2-40B4-BE49-F238E27FC236}">
                <a16:creationId xmlns:a16="http://schemas.microsoft.com/office/drawing/2014/main" id="{49E17BB4-BE3F-4269-B798-0FD929B239CF}"/>
              </a:ext>
            </a:extLst>
          </p:cNvPr>
          <p:cNvSpPr>
            <a:spLocks xmlns:a="http://schemas.openxmlformats.org/drawingml/2006/main" noGrp="1"/>
          </p:cNvSpPr>
          <p:nvPr/>
        </p:nvSpPr>
        <p:spPr>
          <a:xfrm xmlns:a="http://schemas.openxmlformats.org/drawingml/2006/main">
            <a:off x="15408021" y="2638425"/>
            <a:ext cx="2481834"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Predict wind power from past values</a:t>
            </a:r>
          </a:p>
        </p:txBody>
      </p:sp>
      <p:sp>
        <p:nvSpPr>
          <p:cNvPr id="46" name="">
            <a:extLst xmlns:a="http://schemas.openxmlformats.org/drawingml/2006/main">
              <a:ext uri="{FF2B5EF4-FFF2-40B4-BE49-F238E27FC236}">
                <a16:creationId xmlns:a16="http://schemas.microsoft.com/office/drawing/2014/main" id="{F5764646-CC35-4D97-9BF4-25A5B30D95BD}"/>
              </a:ext>
            </a:extLst>
          </p:cNvPr>
          <p:cNvSpPr>
            <a:spLocks xmlns:a="http://schemas.openxmlformats.org/drawingml/2006/main" noGrp="1"/>
          </p:cNvSpPr>
          <p:nvPr/>
        </p:nvSpPr>
        <p:spPr>
          <a:xfrm xmlns:a="http://schemas.openxmlformats.org/drawingml/2006/main">
            <a:off x="17985105" y="2562225"/>
            <a:ext cx="2226945" cy="514350"/>
          </a:xfrm>
          <a:prstGeom xmlns:a="http://schemas.openxmlformats.org/drawingml/2006/main" prst="rect">
            <a:avLst/>
          </a:prstGeom>
          <a:solidFill xmlns:a="http://schemas.openxmlformats.org/drawingml/2006/main">
            <a:srgbClr val="EEF5EF"/>
          </a:solidFill>
          <a:ln xmlns:a="http://schemas.openxmlformats.org/drawingml/2006/main" w="9525">
            <a:solidFill>
              <a:srgbClr val="9CA3AF"/>
            </a:solidFill>
            <a:prstDash val="solid"/>
          </a:ln>
        </p:spPr>
      </p:sp>
      <p:sp>
        <p:nvSpPr>
          <p:cNvPr id="47" name="">
            <a:extLst xmlns:a="http://schemas.openxmlformats.org/drawingml/2006/main">
              <a:ext uri="{FF2B5EF4-FFF2-40B4-BE49-F238E27FC236}">
                <a16:creationId xmlns:a16="http://schemas.microsoft.com/office/drawing/2014/main" id="{B6590DB2-5747-4C12-BA4E-ADF5A5B23960}"/>
              </a:ext>
            </a:extLst>
          </p:cNvPr>
          <p:cNvSpPr>
            <a:spLocks xmlns:a="http://schemas.openxmlformats.org/drawingml/2006/main" noGrp="1"/>
          </p:cNvSpPr>
          <p:nvPr/>
        </p:nvSpPr>
        <p:spPr>
          <a:xfrm xmlns:a="http://schemas.openxmlformats.org/drawingml/2006/main">
            <a:off x="18080355" y="2638425"/>
            <a:ext cx="203644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21.24 MW RMSE</a:t>
            </a:r>
          </a:p>
        </p:txBody>
      </p:sp>
      <p:sp>
        <p:nvSpPr>
          <p:cNvPr id="48" name="">
            <a:extLst xmlns:a="http://schemas.openxmlformats.org/drawingml/2006/main">
              <a:ext uri="{FF2B5EF4-FFF2-40B4-BE49-F238E27FC236}">
                <a16:creationId xmlns:a16="http://schemas.microsoft.com/office/drawing/2014/main" id="{43114FDC-1568-40D4-B9C4-3C69F80FC2AC}"/>
              </a:ext>
            </a:extLst>
          </p:cNvPr>
          <p:cNvSpPr>
            <a:spLocks xmlns:a="http://schemas.openxmlformats.org/drawingml/2006/main" noGrp="1"/>
          </p:cNvSpPr>
          <p:nvPr/>
        </p:nvSpPr>
        <p:spPr>
          <a:xfrm xmlns:a="http://schemas.openxmlformats.org/drawingml/2006/main">
            <a:off x="13849350" y="3076575"/>
            <a:ext cx="1463421"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9CA3AF"/>
            </a:solidFill>
            <a:prstDash val="solid"/>
          </a:ln>
        </p:spPr>
      </p:sp>
      <p:sp>
        <p:nvSpPr>
          <p:cNvPr id="49" name="">
            <a:extLst xmlns:a="http://schemas.openxmlformats.org/drawingml/2006/main">
              <a:ext uri="{FF2B5EF4-FFF2-40B4-BE49-F238E27FC236}">
                <a16:creationId xmlns:a16="http://schemas.microsoft.com/office/drawing/2014/main" id="{0D2A0AAE-C7F5-4BEF-839A-C47A8DFD429C}"/>
              </a:ext>
            </a:extLst>
          </p:cNvPr>
          <p:cNvSpPr>
            <a:spLocks xmlns:a="http://schemas.openxmlformats.org/drawingml/2006/main" noGrp="1"/>
          </p:cNvSpPr>
          <p:nvPr/>
        </p:nvSpPr>
        <p:spPr>
          <a:xfrm xmlns:a="http://schemas.openxmlformats.org/drawingml/2006/main">
            <a:off x="13944600" y="3152775"/>
            <a:ext cx="1272921"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11827"/>
                </a:solidFill>
              </a:defRPr>
            </a:pPr>
            <a:r>
              <a:rPr sz="1050" b="1">
                <a:solidFill>
                  <a:srgbClr val="111827"/>
                </a:solidFill>
              </a:rPr>
              <a:t>Rolling horizon</a:t>
            </a:r>
          </a:p>
        </p:txBody>
      </p:sp>
      <p:sp>
        <p:nvSpPr>
          <p:cNvPr id="50" name="">
            <a:extLst xmlns:a="http://schemas.openxmlformats.org/drawingml/2006/main">
              <a:ext uri="{FF2B5EF4-FFF2-40B4-BE49-F238E27FC236}">
                <a16:creationId xmlns:a16="http://schemas.microsoft.com/office/drawing/2014/main" id="{BD64F380-DF92-4B25-A37E-5974496250E5}"/>
              </a:ext>
            </a:extLst>
          </p:cNvPr>
          <p:cNvSpPr>
            <a:spLocks xmlns:a="http://schemas.openxmlformats.org/drawingml/2006/main" noGrp="1"/>
          </p:cNvSpPr>
          <p:nvPr/>
        </p:nvSpPr>
        <p:spPr>
          <a:xfrm xmlns:a="http://schemas.openxmlformats.org/drawingml/2006/main">
            <a:off x="15312771" y="3076575"/>
            <a:ext cx="2672334"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9CA3AF"/>
            </a:solidFill>
            <a:prstDash val="solid"/>
          </a:ln>
        </p:spPr>
      </p:sp>
      <p:sp>
        <p:nvSpPr>
          <p:cNvPr id="51" name="">
            <a:extLst xmlns:a="http://schemas.openxmlformats.org/drawingml/2006/main">
              <a:ext uri="{FF2B5EF4-FFF2-40B4-BE49-F238E27FC236}">
                <a16:creationId xmlns:a16="http://schemas.microsoft.com/office/drawing/2014/main" id="{4B1289BE-3F27-426C-9273-8794BDCCC31B}"/>
              </a:ext>
            </a:extLst>
          </p:cNvPr>
          <p:cNvSpPr>
            <a:spLocks xmlns:a="http://schemas.openxmlformats.org/drawingml/2006/main" noGrp="1"/>
          </p:cNvSpPr>
          <p:nvPr/>
        </p:nvSpPr>
        <p:spPr>
          <a:xfrm xmlns:a="http://schemas.openxmlformats.org/drawingml/2006/main">
            <a:off x="15408021" y="3152775"/>
            <a:ext cx="2481834"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One forecast path into Gurobi</a:t>
            </a:r>
          </a:p>
        </p:txBody>
      </p:sp>
      <p:sp>
        <p:nvSpPr>
          <p:cNvPr id="52" name="">
            <a:extLst xmlns:a="http://schemas.openxmlformats.org/drawingml/2006/main">
              <a:ext uri="{FF2B5EF4-FFF2-40B4-BE49-F238E27FC236}">
                <a16:creationId xmlns:a16="http://schemas.microsoft.com/office/drawing/2014/main" id="{FCDD05BE-492F-49C3-B1DD-D2A40F8AB98C}"/>
              </a:ext>
            </a:extLst>
          </p:cNvPr>
          <p:cNvSpPr>
            <a:spLocks xmlns:a="http://schemas.openxmlformats.org/drawingml/2006/main" noGrp="1"/>
          </p:cNvSpPr>
          <p:nvPr/>
        </p:nvSpPr>
        <p:spPr>
          <a:xfrm xmlns:a="http://schemas.openxmlformats.org/drawingml/2006/main">
            <a:off x="17985105" y="3076575"/>
            <a:ext cx="222694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9CA3AF"/>
            </a:solidFill>
            <a:prstDash val="solid"/>
          </a:ln>
        </p:spPr>
      </p:sp>
      <p:sp>
        <p:nvSpPr>
          <p:cNvPr id="53" name="">
            <a:extLst xmlns:a="http://schemas.openxmlformats.org/drawingml/2006/main">
              <a:ext uri="{FF2B5EF4-FFF2-40B4-BE49-F238E27FC236}">
                <a16:creationId xmlns:a16="http://schemas.microsoft.com/office/drawing/2014/main" id="{ED204D90-F7C8-486B-B6A5-BB883FC65C0B}"/>
              </a:ext>
            </a:extLst>
          </p:cNvPr>
          <p:cNvSpPr>
            <a:spLocks xmlns:a="http://schemas.openxmlformats.org/drawingml/2006/main" noGrp="1"/>
          </p:cNvSpPr>
          <p:nvPr/>
        </p:nvSpPr>
        <p:spPr>
          <a:xfrm xmlns:a="http://schemas.openxmlformats.org/drawingml/2006/main">
            <a:off x="18080355" y="3152775"/>
            <a:ext cx="203644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48 h: 20.63% COVE gain</a:t>
            </a:r>
          </a:p>
        </p:txBody>
      </p:sp>
      <p:sp>
        <p:nvSpPr>
          <p:cNvPr id="54" name="">
            <a:extLst xmlns:a="http://schemas.openxmlformats.org/drawingml/2006/main">
              <a:ext uri="{FF2B5EF4-FFF2-40B4-BE49-F238E27FC236}">
                <a16:creationId xmlns:a16="http://schemas.microsoft.com/office/drawing/2014/main" id="{E6173EAC-E9CC-4163-A2E8-0BF98A26940F}"/>
              </a:ext>
            </a:extLst>
          </p:cNvPr>
          <p:cNvSpPr>
            <a:spLocks xmlns:a="http://schemas.openxmlformats.org/drawingml/2006/main" noGrp="1"/>
          </p:cNvSpPr>
          <p:nvPr/>
        </p:nvSpPr>
        <p:spPr>
          <a:xfrm xmlns:a="http://schemas.openxmlformats.org/drawingml/2006/main">
            <a:off x="13849350" y="3590925"/>
            <a:ext cx="1463421" cy="514350"/>
          </a:xfrm>
          <a:prstGeom xmlns:a="http://schemas.openxmlformats.org/drawingml/2006/main" prst="rect">
            <a:avLst/>
          </a:prstGeom>
          <a:solidFill xmlns:a="http://schemas.openxmlformats.org/drawingml/2006/main">
            <a:srgbClr val="EEF5EF"/>
          </a:solidFill>
          <a:ln xmlns:a="http://schemas.openxmlformats.org/drawingml/2006/main" w="9525">
            <a:solidFill>
              <a:srgbClr val="9CA3AF"/>
            </a:solidFill>
            <a:prstDash val="solid"/>
          </a:ln>
        </p:spPr>
      </p:sp>
      <p:sp>
        <p:nvSpPr>
          <p:cNvPr id="55" name="">
            <a:extLst xmlns:a="http://schemas.openxmlformats.org/drawingml/2006/main">
              <a:ext uri="{FF2B5EF4-FFF2-40B4-BE49-F238E27FC236}">
                <a16:creationId xmlns:a16="http://schemas.microsoft.com/office/drawing/2014/main" id="{D360331D-D995-47CD-862F-713A0314E1E4}"/>
              </a:ext>
            </a:extLst>
          </p:cNvPr>
          <p:cNvSpPr>
            <a:spLocks xmlns:a="http://schemas.openxmlformats.org/drawingml/2006/main" noGrp="1"/>
          </p:cNvSpPr>
          <p:nvPr/>
        </p:nvSpPr>
        <p:spPr>
          <a:xfrm xmlns:a="http://schemas.openxmlformats.org/drawingml/2006/main">
            <a:off x="13944600" y="3667125"/>
            <a:ext cx="1272921"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11827"/>
                </a:solidFill>
              </a:defRPr>
            </a:pPr>
            <a:r>
              <a:rPr sz="1050" b="1">
                <a:solidFill>
                  <a:srgbClr val="111827"/>
                </a:solidFill>
              </a:rPr>
              <a:t>Scenarios</a:t>
            </a:r>
          </a:p>
        </p:txBody>
      </p:sp>
      <p:sp>
        <p:nvSpPr>
          <p:cNvPr id="56" name="">
            <a:extLst xmlns:a="http://schemas.openxmlformats.org/drawingml/2006/main">
              <a:ext uri="{FF2B5EF4-FFF2-40B4-BE49-F238E27FC236}">
                <a16:creationId xmlns:a16="http://schemas.microsoft.com/office/drawing/2014/main" id="{C220172F-E050-4219-ABC2-AD644A7BED6D}"/>
              </a:ext>
            </a:extLst>
          </p:cNvPr>
          <p:cNvSpPr>
            <a:spLocks xmlns:a="http://schemas.openxmlformats.org/drawingml/2006/main" noGrp="1"/>
          </p:cNvSpPr>
          <p:nvPr/>
        </p:nvSpPr>
        <p:spPr>
          <a:xfrm xmlns:a="http://schemas.openxmlformats.org/drawingml/2006/main">
            <a:off x="15312771" y="3590925"/>
            <a:ext cx="2672334" cy="514350"/>
          </a:xfrm>
          <a:prstGeom xmlns:a="http://schemas.openxmlformats.org/drawingml/2006/main" prst="rect">
            <a:avLst/>
          </a:prstGeom>
          <a:solidFill xmlns:a="http://schemas.openxmlformats.org/drawingml/2006/main">
            <a:srgbClr val="EEF5EF"/>
          </a:solidFill>
          <a:ln xmlns:a="http://schemas.openxmlformats.org/drawingml/2006/main" w="9525">
            <a:solidFill>
              <a:srgbClr val="9CA3AF"/>
            </a:solidFill>
            <a:prstDash val="solid"/>
          </a:ln>
        </p:spPr>
      </p:sp>
      <p:sp>
        <p:nvSpPr>
          <p:cNvPr id="57" name="">
            <a:extLst xmlns:a="http://schemas.openxmlformats.org/drawingml/2006/main">
              <a:ext uri="{FF2B5EF4-FFF2-40B4-BE49-F238E27FC236}">
                <a16:creationId xmlns:a16="http://schemas.microsoft.com/office/drawing/2014/main" id="{15350D86-5A8D-4156-A055-E5422FFD4BA2}"/>
              </a:ext>
            </a:extLst>
          </p:cNvPr>
          <p:cNvSpPr>
            <a:spLocks xmlns:a="http://schemas.openxmlformats.org/drawingml/2006/main" noGrp="1"/>
          </p:cNvSpPr>
          <p:nvPr/>
        </p:nvSpPr>
        <p:spPr>
          <a:xfrm xmlns:a="http://schemas.openxmlformats.org/drawingml/2006/main">
            <a:off x="15408021" y="3667125"/>
            <a:ext cx="2481834"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Multiple possible futures</a:t>
            </a:r>
          </a:p>
        </p:txBody>
      </p:sp>
      <p:sp>
        <p:nvSpPr>
          <p:cNvPr id="58" name="">
            <a:extLst xmlns:a="http://schemas.openxmlformats.org/drawingml/2006/main">
              <a:ext uri="{FF2B5EF4-FFF2-40B4-BE49-F238E27FC236}">
                <a16:creationId xmlns:a16="http://schemas.microsoft.com/office/drawing/2014/main" id="{501103D5-F520-46D0-BCF2-3F1DBFA0BF60}"/>
              </a:ext>
            </a:extLst>
          </p:cNvPr>
          <p:cNvSpPr>
            <a:spLocks xmlns:a="http://schemas.openxmlformats.org/drawingml/2006/main" noGrp="1"/>
          </p:cNvSpPr>
          <p:nvPr/>
        </p:nvSpPr>
        <p:spPr>
          <a:xfrm xmlns:a="http://schemas.openxmlformats.org/drawingml/2006/main">
            <a:off x="17985105" y="3590925"/>
            <a:ext cx="2226945" cy="514350"/>
          </a:xfrm>
          <a:prstGeom xmlns:a="http://schemas.openxmlformats.org/drawingml/2006/main" prst="rect">
            <a:avLst/>
          </a:prstGeom>
          <a:solidFill xmlns:a="http://schemas.openxmlformats.org/drawingml/2006/main">
            <a:srgbClr val="EEF5EF"/>
          </a:solidFill>
          <a:ln xmlns:a="http://schemas.openxmlformats.org/drawingml/2006/main" w="9525">
            <a:solidFill>
              <a:srgbClr val="9CA3AF"/>
            </a:solidFill>
            <a:prstDash val="solid"/>
          </a:ln>
        </p:spPr>
      </p:sp>
      <p:sp>
        <p:nvSpPr>
          <p:cNvPr id="59" name="">
            <a:extLst xmlns:a="http://schemas.openxmlformats.org/drawingml/2006/main">
              <a:ext uri="{FF2B5EF4-FFF2-40B4-BE49-F238E27FC236}">
                <a16:creationId xmlns:a16="http://schemas.microsoft.com/office/drawing/2014/main" id="{E0F4A6F2-361E-49EC-9ECF-99A561AAC0E9}"/>
              </a:ext>
            </a:extLst>
          </p:cNvPr>
          <p:cNvSpPr>
            <a:spLocks xmlns:a="http://schemas.openxmlformats.org/drawingml/2006/main" noGrp="1"/>
          </p:cNvSpPr>
          <p:nvPr/>
        </p:nvSpPr>
        <p:spPr>
          <a:xfrm xmlns:a="http://schemas.openxmlformats.org/drawingml/2006/main">
            <a:off x="18080355" y="3667125"/>
            <a:ext cx="203644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3 scenarios: 40.18% COVE gain</a:t>
            </a:r>
          </a:p>
        </p:txBody>
      </p:sp>
      <p:sp>
        <p:nvSpPr>
          <p:cNvPr id="60" name="">
            <a:extLst xmlns:a="http://schemas.openxmlformats.org/drawingml/2006/main">
              <a:ext uri="{FF2B5EF4-FFF2-40B4-BE49-F238E27FC236}">
                <a16:creationId xmlns:a16="http://schemas.microsoft.com/office/drawing/2014/main" id="{F9A5F50F-35A7-44D9-8E0A-CFDE1695F79C}"/>
              </a:ext>
            </a:extLst>
          </p:cNvPr>
          <p:cNvSpPr>
            <a:spLocks xmlns:a="http://schemas.openxmlformats.org/drawingml/2006/main" noGrp="1"/>
          </p:cNvSpPr>
          <p:nvPr/>
        </p:nvSpPr>
        <p:spPr>
          <a:xfrm xmlns:a="http://schemas.openxmlformats.org/drawingml/2006/main">
            <a:off x="13849350" y="4105275"/>
            <a:ext cx="1463421"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9CA3AF"/>
            </a:solidFill>
            <a:prstDash val="solid"/>
          </a:ln>
        </p:spPr>
      </p:sp>
      <p:sp>
        <p:nvSpPr>
          <p:cNvPr id="61" name="">
            <a:extLst xmlns:a="http://schemas.openxmlformats.org/drawingml/2006/main">
              <a:ext uri="{FF2B5EF4-FFF2-40B4-BE49-F238E27FC236}">
                <a16:creationId xmlns:a16="http://schemas.microsoft.com/office/drawing/2014/main" id="{B5E82D6B-7527-49CF-A860-60B1B7B5AB2C}"/>
              </a:ext>
            </a:extLst>
          </p:cNvPr>
          <p:cNvSpPr>
            <a:spLocks xmlns:a="http://schemas.openxmlformats.org/drawingml/2006/main" noGrp="1"/>
          </p:cNvSpPr>
          <p:nvPr/>
        </p:nvSpPr>
        <p:spPr>
          <a:xfrm xmlns:a="http://schemas.openxmlformats.org/drawingml/2006/main">
            <a:off x="13944600" y="4181475"/>
            <a:ext cx="1272921"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11827"/>
                </a:solidFill>
              </a:defRPr>
            </a:pPr>
            <a:r>
              <a:rPr sz="1050" b="1">
                <a:solidFill>
                  <a:srgbClr val="111827"/>
                </a:solidFill>
              </a:rPr>
              <a:t>Oracle</a:t>
            </a:r>
          </a:p>
        </p:txBody>
      </p:sp>
      <p:sp>
        <p:nvSpPr>
          <p:cNvPr id="62" name="">
            <a:extLst xmlns:a="http://schemas.openxmlformats.org/drawingml/2006/main">
              <a:ext uri="{FF2B5EF4-FFF2-40B4-BE49-F238E27FC236}">
                <a16:creationId xmlns:a16="http://schemas.microsoft.com/office/drawing/2014/main" id="{BEFFC41F-17A0-4160-A58B-EA3FAEB30C50}"/>
              </a:ext>
            </a:extLst>
          </p:cNvPr>
          <p:cNvSpPr>
            <a:spLocks xmlns:a="http://schemas.openxmlformats.org/drawingml/2006/main" noGrp="1"/>
          </p:cNvSpPr>
          <p:nvPr/>
        </p:nvSpPr>
        <p:spPr>
          <a:xfrm xmlns:a="http://schemas.openxmlformats.org/drawingml/2006/main">
            <a:off x="15312771" y="4105275"/>
            <a:ext cx="2672334"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9CA3AF"/>
            </a:solidFill>
            <a:prstDash val="solid"/>
          </a:ln>
        </p:spPr>
      </p:sp>
      <p:sp>
        <p:nvSpPr>
          <p:cNvPr id="63" name="">
            <a:extLst xmlns:a="http://schemas.openxmlformats.org/drawingml/2006/main">
              <a:ext uri="{FF2B5EF4-FFF2-40B4-BE49-F238E27FC236}">
                <a16:creationId xmlns:a16="http://schemas.microsoft.com/office/drawing/2014/main" id="{6B2DDC64-64BC-4706-8B7F-7DCE9E3B80B7}"/>
              </a:ext>
            </a:extLst>
          </p:cNvPr>
          <p:cNvSpPr>
            <a:spLocks xmlns:a="http://schemas.openxmlformats.org/drawingml/2006/main" noGrp="1"/>
          </p:cNvSpPr>
          <p:nvPr/>
        </p:nvSpPr>
        <p:spPr>
          <a:xfrm xmlns:a="http://schemas.openxmlformats.org/drawingml/2006/main">
            <a:off x="15408021" y="4181475"/>
            <a:ext cx="2481834"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Perfect future information</a:t>
            </a:r>
          </a:p>
        </p:txBody>
      </p:sp>
      <p:sp>
        <p:nvSpPr>
          <p:cNvPr id="64" name="">
            <a:extLst xmlns:a="http://schemas.openxmlformats.org/drawingml/2006/main">
              <a:ext uri="{FF2B5EF4-FFF2-40B4-BE49-F238E27FC236}">
                <a16:creationId xmlns:a16="http://schemas.microsoft.com/office/drawing/2014/main" id="{664F5008-CB45-4753-9DD3-A822BD7EC4EC}"/>
              </a:ext>
            </a:extLst>
          </p:cNvPr>
          <p:cNvSpPr>
            <a:spLocks xmlns:a="http://schemas.openxmlformats.org/drawingml/2006/main" noGrp="1"/>
          </p:cNvSpPr>
          <p:nvPr/>
        </p:nvSpPr>
        <p:spPr>
          <a:xfrm xmlns:a="http://schemas.openxmlformats.org/drawingml/2006/main">
            <a:off x="17985105" y="4105275"/>
            <a:ext cx="222694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9CA3AF"/>
            </a:solidFill>
            <a:prstDash val="solid"/>
          </a:ln>
        </p:spPr>
      </p:sp>
      <p:sp>
        <p:nvSpPr>
          <p:cNvPr id="65" name="">
            <a:extLst xmlns:a="http://schemas.openxmlformats.org/drawingml/2006/main">
              <a:ext uri="{FF2B5EF4-FFF2-40B4-BE49-F238E27FC236}">
                <a16:creationId xmlns:a16="http://schemas.microsoft.com/office/drawing/2014/main" id="{D24E2CB7-E3BA-4879-8690-BC89AFA828D2}"/>
              </a:ext>
            </a:extLst>
          </p:cNvPr>
          <p:cNvSpPr>
            <a:spLocks xmlns:a="http://schemas.openxmlformats.org/drawingml/2006/main" noGrp="1"/>
          </p:cNvSpPr>
          <p:nvPr/>
        </p:nvSpPr>
        <p:spPr>
          <a:xfrm xmlns:a="http://schemas.openxmlformats.org/drawingml/2006/main">
            <a:off x="18080355" y="4181475"/>
            <a:ext cx="203644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111827"/>
                </a:solidFill>
              </a:defRPr>
            </a:pPr>
            <a:r>
              <a:rPr sz="1050" b="0">
                <a:solidFill>
                  <a:srgbClr val="111827"/>
                </a:solidFill>
              </a:rPr>
              <a:t>168 h: 40.87% COVE gain</a:t>
            </a:r>
          </a:p>
        </p:txBody>
      </p:sp>
      <p:sp>
        <p:nvSpPr>
          <p:cNvPr id="66" name="">
            <a:extLst xmlns:a="http://schemas.openxmlformats.org/drawingml/2006/main">
              <a:ext uri="{FF2B5EF4-FFF2-40B4-BE49-F238E27FC236}">
                <a16:creationId xmlns:a16="http://schemas.microsoft.com/office/drawing/2014/main" id="{8BF91C5F-155E-426C-B2A5-68F4EDB94DA6}"/>
              </a:ext>
            </a:extLst>
          </p:cNvPr>
          <p:cNvSpPr>
            <a:spLocks xmlns:a="http://schemas.openxmlformats.org/drawingml/2006/main" noGrp="1"/>
          </p:cNvSpPr>
          <p:nvPr/>
        </p:nvSpPr>
        <p:spPr>
          <a:xfrm xmlns:a="http://schemas.openxmlformats.org/drawingml/2006/main">
            <a:off x="13887450" y="4943475"/>
            <a:ext cx="6286500" cy="2447925"/>
          </a:xfrm>
          <a:prstGeom xmlns:a="http://schemas.openxmlformats.org/drawingml/2006/main" prst="roundRect">
            <a:avLst>
              <a:gd name="adj" fmla="val 3891"/>
            </a:avLst>
          </a:prstGeom>
          <a:solidFill xmlns:a="http://schemas.openxmlformats.org/drawingml/2006/main">
            <a:srgbClr val="FFFFFF"/>
          </a:solidFill>
          <a:ln xmlns:a="http://schemas.openxmlformats.org/drawingml/2006/main" w="19050">
            <a:solidFill>
              <a:srgbClr val="D1D5DB"/>
            </a:solidFill>
            <a:prstDash val="solid"/>
          </a:ln>
        </p:spPr>
      </p:sp>
      <p:pic>
        <p:nvPicPr>
          <p:cNvPr id="200" name=""/>
          <p:cNvPicPr>
            <a:picLocks xmlns:a="http://schemas.openxmlformats.org/drawingml/2006/main" noChangeAspect="1"/>
          </p:cNvPicPr>
          <p:nvPr/>
        </p:nvPicPr>
        <p:blipFill>
          <a:blip xmlns:r="http://schemas.openxmlformats.org/officeDocument/2006/relationships" xmlns:a="http://schemas.openxmlformats.org/drawingml/2006/main" r:embed="Re0dac3053f0c4d0f"/>
          <a:stretch xmlns:a="http://schemas.openxmlformats.org/drawingml/2006/main"/>
        </p:blipFill>
        <p:spPr>
          <a:xfrm xmlns:a="http://schemas.openxmlformats.org/drawingml/2006/main">
            <a:off x="15007828" y="5000625"/>
            <a:ext cx="4045744" cy="2333625"/>
          </a:xfrm>
          <a:prstGeom xmlns:a="http://schemas.openxmlformats.org/drawingml/2006/main" prst="rect">
            <a:avLst/>
          </a:prstGeom>
        </p:spPr>
      </p:pic>
      <p:sp>
        <p:nvSpPr>
          <p:cNvPr id="68" name="">
            <a:extLst xmlns:a="http://schemas.openxmlformats.org/drawingml/2006/main">
              <a:ext uri="{FF2B5EF4-FFF2-40B4-BE49-F238E27FC236}">
                <a16:creationId xmlns:a16="http://schemas.microsoft.com/office/drawing/2014/main" id="{3205E3C1-350A-429A-8274-47F4D701CEA8}"/>
              </a:ext>
            </a:extLst>
          </p:cNvPr>
          <p:cNvSpPr>
            <a:spLocks xmlns:a="http://schemas.openxmlformats.org/drawingml/2006/main" noGrp="1"/>
          </p:cNvSpPr>
          <p:nvPr/>
        </p:nvSpPr>
        <p:spPr>
          <a:xfrm xmlns:a="http://schemas.openxmlformats.org/drawingml/2006/main">
            <a:off x="14039850" y="7429500"/>
            <a:ext cx="598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34155"/>
                </a:solidFill>
              </a:defRPr>
            </a:pPr>
            <a:r>
              <a:rPr sz="1050" b="0">
                <a:solidFill>
                  <a:srgbClr val="334155"/>
                </a:solidFill>
              </a:rPr>
              <a:t>Deterministic rolling horizon: 48 hours gave the best COVE gain because it looked far enough ahead without trusting a weak long forecast too much.</a:t>
            </a:r>
          </a:p>
        </p:txBody>
      </p:sp>
      <p:sp>
        <p:nvSpPr>
          <p:cNvPr id="69" name="">
            <a:extLst xmlns:a="http://schemas.openxmlformats.org/drawingml/2006/main">
              <a:ext uri="{FF2B5EF4-FFF2-40B4-BE49-F238E27FC236}">
                <a16:creationId xmlns:a16="http://schemas.microsoft.com/office/drawing/2014/main" id="{96DEDF83-1B5B-4BA3-AEAF-1C296027D634}"/>
              </a:ext>
            </a:extLst>
          </p:cNvPr>
          <p:cNvSpPr>
            <a:spLocks xmlns:a="http://schemas.openxmlformats.org/drawingml/2006/main" noGrp="1"/>
          </p:cNvSpPr>
          <p:nvPr/>
        </p:nvSpPr>
        <p:spPr>
          <a:xfrm xmlns:a="http://schemas.openxmlformats.org/drawingml/2006/main">
            <a:off x="13887450" y="8277225"/>
            <a:ext cx="6286500" cy="2352675"/>
          </a:xfrm>
          <a:prstGeom xmlns:a="http://schemas.openxmlformats.org/drawingml/2006/main" prst="roundRect">
            <a:avLst>
              <a:gd name="adj" fmla="val 4049"/>
            </a:avLst>
          </a:prstGeom>
          <a:solidFill xmlns:a="http://schemas.openxmlformats.org/drawingml/2006/main">
            <a:srgbClr val="FFFFFF"/>
          </a:solidFill>
          <a:ln xmlns:a="http://schemas.openxmlformats.org/drawingml/2006/main" w="19050">
            <a:solidFill>
              <a:srgbClr val="D1D5DB"/>
            </a:solidFill>
            <a:prstDash val="solid"/>
          </a:ln>
        </p:spPr>
      </p:sp>
      <p:pic>
        <p:nvPicPr>
          <p:cNvPr id="203" name=""/>
          <p:cNvPicPr>
            <a:picLocks xmlns:a="http://schemas.openxmlformats.org/drawingml/2006/main" noChangeAspect="1"/>
          </p:cNvPicPr>
          <p:nvPr/>
        </p:nvPicPr>
        <p:blipFill>
          <a:blip xmlns:r="http://schemas.openxmlformats.org/officeDocument/2006/relationships" xmlns:a="http://schemas.openxmlformats.org/drawingml/2006/main" r:embed="R78858bb3755d4622"/>
          <a:stretch xmlns:a="http://schemas.openxmlformats.org/drawingml/2006/main"/>
        </p:blipFill>
        <p:spPr>
          <a:xfrm xmlns:a="http://schemas.openxmlformats.org/drawingml/2006/main">
            <a:off x="15090394" y="8334375"/>
            <a:ext cx="3880611" cy="2238375"/>
          </a:xfrm>
          <a:prstGeom xmlns:a="http://schemas.openxmlformats.org/drawingml/2006/main" prst="rect">
            <a:avLst/>
          </a:prstGeom>
        </p:spPr>
      </p:pic>
      <p:sp>
        <p:nvSpPr>
          <p:cNvPr id="71" name="">
            <a:extLst xmlns:a="http://schemas.openxmlformats.org/drawingml/2006/main">
              <a:ext uri="{FF2B5EF4-FFF2-40B4-BE49-F238E27FC236}">
                <a16:creationId xmlns:a16="http://schemas.microsoft.com/office/drawing/2014/main" id="{790AF2DE-4B53-4792-A6CD-105B7FD5BD6C}"/>
              </a:ext>
            </a:extLst>
          </p:cNvPr>
          <p:cNvSpPr>
            <a:spLocks xmlns:a="http://schemas.openxmlformats.org/drawingml/2006/main" noGrp="1"/>
          </p:cNvSpPr>
          <p:nvPr/>
        </p:nvSpPr>
        <p:spPr>
          <a:xfrm xmlns:a="http://schemas.openxmlformats.org/drawingml/2006/main">
            <a:off x="14039850" y="10668000"/>
            <a:ext cx="5981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34155"/>
                </a:solidFill>
              </a:defRPr>
            </a:pPr>
            <a:r>
              <a:rPr sz="1050" b="0">
                <a:solidFill>
                  <a:srgbClr val="334155"/>
                </a:solidFill>
              </a:rPr>
              <a:t>Longer horizons did not automatically improve realistic dispatch. Planning value and forecast error have to balance.</a:t>
            </a:r>
          </a:p>
        </p:txBody>
      </p:sp>
      <p:sp>
        <p:nvSpPr>
          <p:cNvPr id="72" name="">
            <a:extLst xmlns:a="http://schemas.openxmlformats.org/drawingml/2006/main">
              <a:ext uri="{FF2B5EF4-FFF2-40B4-BE49-F238E27FC236}">
                <a16:creationId xmlns:a16="http://schemas.microsoft.com/office/drawing/2014/main" id="{9256E53D-2D9B-456F-83C3-ECC887117DCC}"/>
              </a:ext>
            </a:extLst>
          </p:cNvPr>
          <p:cNvSpPr>
            <a:spLocks xmlns:a="http://schemas.openxmlformats.org/drawingml/2006/main" noGrp="1"/>
          </p:cNvSpPr>
          <p:nvPr/>
        </p:nvSpPr>
        <p:spPr>
          <a:xfrm xmlns:a="http://schemas.openxmlformats.org/drawingml/2006/main">
            <a:off x="13849350" y="11334750"/>
            <a:ext cx="63627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9050">
            <a:solidFill>
              <a:srgbClr val="D6D3D1"/>
            </a:solidFill>
            <a:prstDash val="solid"/>
          </a:ln>
        </p:spPr>
      </p:sp>
      <p:sp>
        <p:nvSpPr>
          <p:cNvPr id="73" name="">
            <a:extLst xmlns:a="http://schemas.openxmlformats.org/drawingml/2006/main">
              <a:ext uri="{FF2B5EF4-FFF2-40B4-BE49-F238E27FC236}">
                <a16:creationId xmlns:a16="http://schemas.microsoft.com/office/drawing/2014/main" id="{70419B21-1948-4B9D-B564-61629E085779}"/>
              </a:ext>
            </a:extLst>
          </p:cNvPr>
          <p:cNvSpPr>
            <a:spLocks xmlns:a="http://schemas.openxmlformats.org/drawingml/2006/main" noGrp="1"/>
          </p:cNvSpPr>
          <p:nvPr/>
        </p:nvSpPr>
        <p:spPr>
          <a:xfrm xmlns:a="http://schemas.openxmlformats.org/drawingml/2006/main">
            <a:off x="14058900" y="114776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4B5563"/>
                </a:solidFill>
              </a:defRPr>
            </a:pPr>
            <a:r>
              <a:rPr sz="1200" b="1">
                <a:solidFill>
                  <a:srgbClr val="4B5563"/>
                </a:solidFill>
              </a:rPr>
              <a:t>How to read these results</a:t>
            </a:r>
          </a:p>
        </p:txBody>
      </p:sp>
      <p:sp>
        <p:nvSpPr>
          <p:cNvPr id="74" name="">
            <a:extLst xmlns:a="http://schemas.openxmlformats.org/drawingml/2006/main">
              <a:ext uri="{FF2B5EF4-FFF2-40B4-BE49-F238E27FC236}">
                <a16:creationId xmlns:a16="http://schemas.microsoft.com/office/drawing/2014/main" id="{9714E6CC-E732-48F5-AFDC-6DED95E3302B}"/>
              </a:ext>
            </a:extLst>
          </p:cNvPr>
          <p:cNvSpPr>
            <a:spLocks xmlns:a="http://schemas.openxmlformats.org/drawingml/2006/main" noGrp="1"/>
          </p:cNvSpPr>
          <p:nvPr/>
        </p:nvSpPr>
        <p:spPr>
          <a:xfrm xmlns:a="http://schemas.openxmlformats.org/drawingml/2006/main">
            <a:off x="14058900" y="11744325"/>
            <a:ext cx="594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374151"/>
                </a:solidFill>
              </a:defRPr>
            </a:pPr>
            <a:r>
              <a:rPr sz="975" b="0">
                <a:solidFill>
                  <a:srgbClr val="374151"/>
                </a:solidFill>
              </a:rPr>
              <a:t>A higher COVE gain is better because it means the same storage system delivered energy at higher value compared with the 100 MW benchmark.</a:t>
            </a:r>
          </a:p>
        </p:txBody>
      </p:sp>
      <p:sp>
        <p:nvSpPr>
          <p:cNvPr id="75" name="">
            <a:extLst xmlns:a="http://schemas.openxmlformats.org/drawingml/2006/main">
              <a:ext uri="{FF2B5EF4-FFF2-40B4-BE49-F238E27FC236}">
                <a16:creationId xmlns:a16="http://schemas.microsoft.com/office/drawing/2014/main" id="{0AA8AFE1-4B7B-4554-B313-0BC9CB025960}"/>
              </a:ext>
            </a:extLst>
          </p:cNvPr>
          <p:cNvSpPr>
            <a:spLocks xmlns:a="http://schemas.openxmlformats.org/drawingml/2006/main" noGrp="1"/>
          </p:cNvSpPr>
          <p:nvPr/>
        </p:nvSpPr>
        <p:spPr>
          <a:xfrm xmlns:a="http://schemas.openxmlformats.org/drawingml/2006/main">
            <a:off x="20478750" y="2047875"/>
            <a:ext cx="63627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9050">
            <a:solidFill>
              <a:srgbClr val="E5C7AA"/>
            </a:solidFill>
            <a:prstDash val="solid"/>
          </a:ln>
        </p:spPr>
      </p:sp>
      <p:sp>
        <p:nvSpPr>
          <p:cNvPr id="76" name="">
            <a:extLst xmlns:a="http://schemas.openxmlformats.org/drawingml/2006/main">
              <a:ext uri="{FF2B5EF4-FFF2-40B4-BE49-F238E27FC236}">
                <a16:creationId xmlns:a16="http://schemas.microsoft.com/office/drawing/2014/main" id="{643131FB-1D01-4E64-A344-1F982F4EA154}"/>
              </a:ext>
            </a:extLst>
          </p:cNvPr>
          <p:cNvSpPr>
            <a:spLocks xmlns:a="http://schemas.openxmlformats.org/drawingml/2006/main" noGrp="1"/>
          </p:cNvSpPr>
          <p:nvPr/>
        </p:nvSpPr>
        <p:spPr>
          <a:xfrm xmlns:a="http://schemas.openxmlformats.org/drawingml/2006/main">
            <a:off x="20688300" y="2219325"/>
            <a:ext cx="594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8A5134"/>
                </a:solidFill>
              </a:defRPr>
            </a:pPr>
            <a:r>
              <a:rPr sz="2025" b="1">
                <a:solidFill>
                  <a:srgbClr val="8A5134"/>
                </a:solidFill>
              </a:rPr>
              <a:t>4. Results</a:t>
            </a:r>
          </a:p>
        </p:txBody>
      </p:sp>
      <p:sp>
        <p:nvSpPr>
          <p:cNvPr id="77" name="">
            <a:extLst xmlns:a="http://schemas.openxmlformats.org/drawingml/2006/main">
              <a:ext uri="{FF2B5EF4-FFF2-40B4-BE49-F238E27FC236}">
                <a16:creationId xmlns:a16="http://schemas.microsoft.com/office/drawing/2014/main" id="{B3B7CC5A-32CB-4237-B3BB-744601866870}"/>
              </a:ext>
            </a:extLst>
          </p:cNvPr>
          <p:cNvSpPr>
            <a:spLocks xmlns:a="http://schemas.openxmlformats.org/drawingml/2006/main" noGrp="1"/>
          </p:cNvSpPr>
          <p:nvPr/>
        </p:nvSpPr>
        <p:spPr>
          <a:xfrm xmlns:a="http://schemas.openxmlformats.org/drawingml/2006/main">
            <a:off x="20688300" y="2590800"/>
            <a:ext cx="5943600" cy="38100"/>
          </a:xfrm>
          <a:prstGeom xmlns:a="http://schemas.openxmlformats.org/drawingml/2006/main" prst="rect">
            <a:avLst/>
          </a:prstGeom>
          <a:solidFill xmlns:a="http://schemas.openxmlformats.org/drawingml/2006/main">
            <a:srgbClr val="8A5134"/>
          </a:solidFill>
          <a:ln xmlns:a="http://schemas.openxmlformats.org/drawingml/2006/main" w="0">
            <a:solidFill>
              <a:srgbClr val="8A5134"/>
            </a:solidFill>
            <a:prstDash val="solid"/>
          </a:ln>
        </p:spPr>
      </p:sp>
      <p:sp>
        <p:nvSpPr>
          <p:cNvPr id="78" name="">
            <a:extLst xmlns:a="http://schemas.openxmlformats.org/drawingml/2006/main">
              <a:ext uri="{FF2B5EF4-FFF2-40B4-BE49-F238E27FC236}">
                <a16:creationId xmlns:a16="http://schemas.microsoft.com/office/drawing/2014/main" id="{CA5EF66F-FA0B-4DD8-8BEB-60F0D306B922}"/>
              </a:ext>
            </a:extLst>
          </p:cNvPr>
          <p:cNvSpPr>
            <a:spLocks xmlns:a="http://schemas.openxmlformats.org/drawingml/2006/main" noGrp="1"/>
          </p:cNvSpPr>
          <p:nvPr/>
        </p:nvSpPr>
        <p:spPr>
          <a:xfrm xmlns:a="http://schemas.openxmlformats.org/drawingml/2006/main">
            <a:off x="20745450" y="2771775"/>
            <a:ext cx="5829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F2937"/>
                </a:solidFill>
              </a:defRPr>
            </a:pPr>
            <a:r>
              <a:rPr sz="1125" b="0">
                <a:solidFill>
                  <a:srgbClr val="1F2937"/>
                </a:solidFill>
              </a:rPr>
              <a:t>Primary benchmark: 100 MW constant-output CAES. Wind-only remains secondary context.</a:t>
            </a:r>
          </a:p>
        </p:txBody>
      </p:sp>
      <p:sp>
        <p:nvSpPr>
          <p:cNvPr id="79" name="">
            <a:extLst xmlns:a="http://schemas.openxmlformats.org/drawingml/2006/main">
              <a:ext uri="{FF2B5EF4-FFF2-40B4-BE49-F238E27FC236}">
                <a16:creationId xmlns:a16="http://schemas.microsoft.com/office/drawing/2014/main" id="{66D6F721-B011-4416-8C4D-C772C0A6253F}"/>
              </a:ext>
            </a:extLst>
          </p:cNvPr>
          <p:cNvSpPr>
            <a:spLocks xmlns:a="http://schemas.openxmlformats.org/drawingml/2006/main" noGrp="1"/>
          </p:cNvSpPr>
          <p:nvPr/>
        </p:nvSpPr>
        <p:spPr>
          <a:xfrm xmlns:a="http://schemas.openxmlformats.org/drawingml/2006/main">
            <a:off x="20478750" y="3714750"/>
            <a:ext cx="3095625"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19050">
            <a:solidFill>
              <a:srgbClr val="3F6575"/>
            </a:solidFill>
            <a:prstDash val="solid"/>
          </a:ln>
        </p:spPr>
      </p:sp>
      <p:sp>
        <p:nvSpPr>
          <p:cNvPr id="80" name="">
            <a:extLst xmlns:a="http://schemas.openxmlformats.org/drawingml/2006/main">
              <a:ext uri="{FF2B5EF4-FFF2-40B4-BE49-F238E27FC236}">
                <a16:creationId xmlns:a16="http://schemas.microsoft.com/office/drawing/2014/main" id="{D541486E-D591-4A02-83B4-4BBBC7AD94FE}"/>
              </a:ext>
            </a:extLst>
          </p:cNvPr>
          <p:cNvSpPr>
            <a:spLocks xmlns:a="http://schemas.openxmlformats.org/drawingml/2006/main" noGrp="1"/>
          </p:cNvSpPr>
          <p:nvPr/>
        </p:nvSpPr>
        <p:spPr>
          <a:xfrm xmlns:a="http://schemas.openxmlformats.org/drawingml/2006/main">
            <a:off x="20650200" y="3838575"/>
            <a:ext cx="27527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3F6575"/>
                </a:solidFill>
              </a:defRPr>
            </a:pPr>
            <a:r>
              <a:rPr sz="2250" b="1">
                <a:solidFill>
                  <a:srgbClr val="3F6575"/>
                </a:solidFill>
              </a:rPr>
              <a:t>21.24 MW</a:t>
            </a:r>
          </a:p>
        </p:txBody>
      </p:sp>
      <p:sp>
        <p:nvSpPr>
          <p:cNvPr id="81" name="">
            <a:extLst xmlns:a="http://schemas.openxmlformats.org/drawingml/2006/main">
              <a:ext uri="{FF2B5EF4-FFF2-40B4-BE49-F238E27FC236}">
                <a16:creationId xmlns:a16="http://schemas.microsoft.com/office/drawing/2014/main" id="{2213B80A-737A-4D5B-9CA3-80A2B2A7BB61}"/>
              </a:ext>
            </a:extLst>
          </p:cNvPr>
          <p:cNvSpPr>
            <a:spLocks xmlns:a="http://schemas.openxmlformats.org/drawingml/2006/main" noGrp="1"/>
          </p:cNvSpPr>
          <p:nvPr/>
        </p:nvSpPr>
        <p:spPr>
          <a:xfrm xmlns:a="http://schemas.openxmlformats.org/drawingml/2006/main">
            <a:off x="20650200" y="4238625"/>
            <a:ext cx="2752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defRPr>
            </a:pPr>
            <a:r>
              <a:rPr sz="1125" b="1">
                <a:solidFill>
                  <a:srgbClr val="111827"/>
                </a:solidFill>
              </a:rPr>
              <a:t>Forecast RMSE</a:t>
            </a:r>
          </a:p>
        </p:txBody>
      </p:sp>
      <p:sp>
        <p:nvSpPr>
          <p:cNvPr id="82" name="">
            <a:extLst xmlns:a="http://schemas.openxmlformats.org/drawingml/2006/main">
              <a:ext uri="{FF2B5EF4-FFF2-40B4-BE49-F238E27FC236}">
                <a16:creationId xmlns:a16="http://schemas.microsoft.com/office/drawing/2014/main" id="{FCB46590-0F28-40D3-89A1-9C1C775F232B}"/>
              </a:ext>
            </a:extLst>
          </p:cNvPr>
          <p:cNvSpPr>
            <a:spLocks xmlns:a="http://schemas.openxmlformats.org/drawingml/2006/main" noGrp="1"/>
          </p:cNvSpPr>
          <p:nvPr/>
        </p:nvSpPr>
        <p:spPr>
          <a:xfrm xmlns:a="http://schemas.openxmlformats.org/drawingml/2006/main">
            <a:off x="20650200" y="4514850"/>
            <a:ext cx="2752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75569"/>
                </a:solidFill>
              </a:defRPr>
            </a:pPr>
            <a:r>
              <a:rPr sz="975" b="0">
                <a:solidFill>
                  <a:srgbClr val="475569"/>
                </a:solidFill>
              </a:rPr>
              <a:t>causal lag/ridge</a:t>
            </a:r>
          </a:p>
        </p:txBody>
      </p:sp>
      <p:sp>
        <p:nvSpPr>
          <p:cNvPr id="83" name="">
            <a:extLst xmlns:a="http://schemas.openxmlformats.org/drawingml/2006/main">
              <a:ext uri="{FF2B5EF4-FFF2-40B4-BE49-F238E27FC236}">
                <a16:creationId xmlns:a16="http://schemas.microsoft.com/office/drawing/2014/main" id="{DE8008C4-66C6-4003-AC80-DF2A2927D6D4}"/>
              </a:ext>
            </a:extLst>
          </p:cNvPr>
          <p:cNvSpPr>
            <a:spLocks xmlns:a="http://schemas.openxmlformats.org/drawingml/2006/main" noGrp="1"/>
          </p:cNvSpPr>
          <p:nvPr/>
        </p:nvSpPr>
        <p:spPr>
          <a:xfrm xmlns:a="http://schemas.openxmlformats.org/drawingml/2006/main">
            <a:off x="23745825" y="3714750"/>
            <a:ext cx="3095625"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19050">
            <a:solidFill>
              <a:srgbClr val="5F5472"/>
            </a:solidFill>
            <a:prstDash val="solid"/>
          </a:ln>
        </p:spPr>
      </p:sp>
      <p:sp>
        <p:nvSpPr>
          <p:cNvPr id="84" name="">
            <a:extLst xmlns:a="http://schemas.openxmlformats.org/drawingml/2006/main">
              <a:ext uri="{FF2B5EF4-FFF2-40B4-BE49-F238E27FC236}">
                <a16:creationId xmlns:a16="http://schemas.microsoft.com/office/drawing/2014/main" id="{4B4A369E-F3E3-4D20-9BEF-CF9656109895}"/>
              </a:ext>
            </a:extLst>
          </p:cNvPr>
          <p:cNvSpPr>
            <a:spLocks xmlns:a="http://schemas.openxmlformats.org/drawingml/2006/main" noGrp="1"/>
          </p:cNvSpPr>
          <p:nvPr/>
        </p:nvSpPr>
        <p:spPr>
          <a:xfrm xmlns:a="http://schemas.openxmlformats.org/drawingml/2006/main">
            <a:off x="23917275" y="3838575"/>
            <a:ext cx="27527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5F5472"/>
                </a:solidFill>
              </a:defRPr>
            </a:pPr>
            <a:r>
              <a:rPr sz="2250" b="1">
                <a:solidFill>
                  <a:srgbClr val="5F5472"/>
                </a:solidFill>
              </a:rPr>
              <a:t>20.63%</a:t>
            </a:r>
          </a:p>
        </p:txBody>
      </p:sp>
      <p:sp>
        <p:nvSpPr>
          <p:cNvPr id="85" name="">
            <a:extLst xmlns:a="http://schemas.openxmlformats.org/drawingml/2006/main">
              <a:ext uri="{FF2B5EF4-FFF2-40B4-BE49-F238E27FC236}">
                <a16:creationId xmlns:a16="http://schemas.microsoft.com/office/drawing/2014/main" id="{C98CA673-0F90-4D4D-A238-9D5FBB69030A}"/>
              </a:ext>
            </a:extLst>
          </p:cNvPr>
          <p:cNvSpPr>
            <a:spLocks xmlns:a="http://schemas.openxmlformats.org/drawingml/2006/main" noGrp="1"/>
          </p:cNvSpPr>
          <p:nvPr/>
        </p:nvSpPr>
        <p:spPr>
          <a:xfrm xmlns:a="http://schemas.openxmlformats.org/drawingml/2006/main">
            <a:off x="23917275" y="4238625"/>
            <a:ext cx="2752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defRPr>
            </a:pPr>
            <a:r>
              <a:rPr sz="1125" b="1">
                <a:solidFill>
                  <a:srgbClr val="111827"/>
                </a:solidFill>
              </a:rPr>
              <a:t>Deterministic</a:t>
            </a:r>
          </a:p>
        </p:txBody>
      </p:sp>
      <p:sp>
        <p:nvSpPr>
          <p:cNvPr id="86" name="">
            <a:extLst xmlns:a="http://schemas.openxmlformats.org/drawingml/2006/main">
              <a:ext uri="{FF2B5EF4-FFF2-40B4-BE49-F238E27FC236}">
                <a16:creationId xmlns:a16="http://schemas.microsoft.com/office/drawing/2014/main" id="{54063D93-F83C-4E71-ACDA-761E64C3F88A}"/>
              </a:ext>
            </a:extLst>
          </p:cNvPr>
          <p:cNvSpPr>
            <a:spLocks xmlns:a="http://schemas.openxmlformats.org/drawingml/2006/main" noGrp="1"/>
          </p:cNvSpPr>
          <p:nvPr/>
        </p:nvSpPr>
        <p:spPr>
          <a:xfrm xmlns:a="http://schemas.openxmlformats.org/drawingml/2006/main">
            <a:off x="23917275" y="4514850"/>
            <a:ext cx="2752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75569"/>
                </a:solidFill>
              </a:defRPr>
            </a:pPr>
            <a:r>
              <a:rPr sz="975" b="0">
                <a:solidFill>
                  <a:srgbClr val="475569"/>
                </a:solidFill>
              </a:rPr>
              <a:t>48 h COVE gain</a:t>
            </a:r>
          </a:p>
        </p:txBody>
      </p:sp>
      <p:sp>
        <p:nvSpPr>
          <p:cNvPr id="87" name="">
            <a:extLst xmlns:a="http://schemas.openxmlformats.org/drawingml/2006/main">
              <a:ext uri="{FF2B5EF4-FFF2-40B4-BE49-F238E27FC236}">
                <a16:creationId xmlns:a16="http://schemas.microsoft.com/office/drawing/2014/main" id="{69C3DD33-7117-4ACD-BBA0-1CCFB47FFA3A}"/>
              </a:ext>
            </a:extLst>
          </p:cNvPr>
          <p:cNvSpPr>
            <a:spLocks xmlns:a="http://schemas.openxmlformats.org/drawingml/2006/main" noGrp="1"/>
          </p:cNvSpPr>
          <p:nvPr/>
        </p:nvSpPr>
        <p:spPr>
          <a:xfrm xmlns:a="http://schemas.openxmlformats.org/drawingml/2006/main">
            <a:off x="20478750" y="5048250"/>
            <a:ext cx="3095625"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19050">
            <a:solidFill>
              <a:srgbClr val="557A5A"/>
            </a:solidFill>
            <a:prstDash val="solid"/>
          </a:ln>
        </p:spPr>
      </p:sp>
      <p:sp>
        <p:nvSpPr>
          <p:cNvPr id="88" name="">
            <a:extLst xmlns:a="http://schemas.openxmlformats.org/drawingml/2006/main">
              <a:ext uri="{FF2B5EF4-FFF2-40B4-BE49-F238E27FC236}">
                <a16:creationId xmlns:a16="http://schemas.microsoft.com/office/drawing/2014/main" id="{ECFB158F-71D1-465E-95F2-DB87F2B3FD59}"/>
              </a:ext>
            </a:extLst>
          </p:cNvPr>
          <p:cNvSpPr>
            <a:spLocks xmlns:a="http://schemas.openxmlformats.org/drawingml/2006/main" noGrp="1"/>
          </p:cNvSpPr>
          <p:nvPr/>
        </p:nvSpPr>
        <p:spPr>
          <a:xfrm xmlns:a="http://schemas.openxmlformats.org/drawingml/2006/main">
            <a:off x="20650200" y="5172075"/>
            <a:ext cx="27527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557A5A"/>
                </a:solidFill>
              </a:defRPr>
            </a:pPr>
            <a:r>
              <a:rPr sz="2250" b="1">
                <a:solidFill>
                  <a:srgbClr val="557A5A"/>
                </a:solidFill>
              </a:rPr>
              <a:t>40.18%</a:t>
            </a:r>
          </a:p>
        </p:txBody>
      </p:sp>
      <p:sp>
        <p:nvSpPr>
          <p:cNvPr id="89" name="">
            <a:extLst xmlns:a="http://schemas.openxmlformats.org/drawingml/2006/main">
              <a:ext uri="{FF2B5EF4-FFF2-40B4-BE49-F238E27FC236}">
                <a16:creationId xmlns:a16="http://schemas.microsoft.com/office/drawing/2014/main" id="{DF4886BA-8463-45C0-9EE4-31F063C71167}"/>
              </a:ext>
            </a:extLst>
          </p:cNvPr>
          <p:cNvSpPr>
            <a:spLocks xmlns:a="http://schemas.openxmlformats.org/drawingml/2006/main" noGrp="1"/>
          </p:cNvSpPr>
          <p:nvPr/>
        </p:nvSpPr>
        <p:spPr>
          <a:xfrm xmlns:a="http://schemas.openxmlformats.org/drawingml/2006/main">
            <a:off x="20650200" y="5572125"/>
            <a:ext cx="2752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defRPr>
            </a:pPr>
            <a:r>
              <a:rPr sz="1125" b="1">
                <a:solidFill>
                  <a:srgbClr val="111827"/>
                </a:solidFill>
              </a:rPr>
              <a:t>Scenario</a:t>
            </a:r>
          </a:p>
        </p:txBody>
      </p:sp>
      <p:sp>
        <p:nvSpPr>
          <p:cNvPr id="90" name="">
            <a:extLst xmlns:a="http://schemas.openxmlformats.org/drawingml/2006/main">
              <a:ext uri="{FF2B5EF4-FFF2-40B4-BE49-F238E27FC236}">
                <a16:creationId xmlns:a16="http://schemas.microsoft.com/office/drawing/2014/main" id="{BAFA9047-394F-4477-A001-ADB22C59AE45}"/>
              </a:ext>
            </a:extLst>
          </p:cNvPr>
          <p:cNvSpPr>
            <a:spLocks xmlns:a="http://schemas.openxmlformats.org/drawingml/2006/main" noGrp="1"/>
          </p:cNvSpPr>
          <p:nvPr/>
        </p:nvSpPr>
        <p:spPr>
          <a:xfrm xmlns:a="http://schemas.openxmlformats.org/drawingml/2006/main">
            <a:off x="20650200" y="5848350"/>
            <a:ext cx="2752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75569"/>
                </a:solidFill>
              </a:defRPr>
            </a:pPr>
            <a:r>
              <a:rPr sz="975" b="0">
                <a:solidFill>
                  <a:srgbClr val="475569"/>
                </a:solidFill>
              </a:rPr>
              <a:t>3 scenarios, hourly replan</a:t>
            </a:r>
          </a:p>
        </p:txBody>
      </p:sp>
      <p:sp>
        <p:nvSpPr>
          <p:cNvPr id="91" name="">
            <a:extLst xmlns:a="http://schemas.openxmlformats.org/drawingml/2006/main">
              <a:ext uri="{FF2B5EF4-FFF2-40B4-BE49-F238E27FC236}">
                <a16:creationId xmlns:a16="http://schemas.microsoft.com/office/drawing/2014/main" id="{63E8BF41-8D82-4138-961E-938AFA86D871}"/>
              </a:ext>
            </a:extLst>
          </p:cNvPr>
          <p:cNvSpPr>
            <a:spLocks xmlns:a="http://schemas.openxmlformats.org/drawingml/2006/main" noGrp="1"/>
          </p:cNvSpPr>
          <p:nvPr/>
        </p:nvSpPr>
        <p:spPr>
          <a:xfrm xmlns:a="http://schemas.openxmlformats.org/drawingml/2006/main">
            <a:off x="23745825" y="5048250"/>
            <a:ext cx="3095625" cy="1143000"/>
          </a:xfrm>
          <a:prstGeom xmlns:a="http://schemas.openxmlformats.org/drawingml/2006/main" prst="roundRect">
            <a:avLst>
              <a:gd name="adj" fmla="val 10000"/>
            </a:avLst>
          </a:prstGeom>
          <a:solidFill xmlns:a="http://schemas.openxmlformats.org/drawingml/2006/main">
            <a:srgbClr val="F8FAFC"/>
          </a:solidFill>
          <a:ln xmlns:a="http://schemas.openxmlformats.org/drawingml/2006/main" w="19050">
            <a:solidFill>
              <a:srgbClr val="8A5134"/>
            </a:solidFill>
            <a:prstDash val="solid"/>
          </a:ln>
        </p:spPr>
      </p:sp>
      <p:sp>
        <p:nvSpPr>
          <p:cNvPr id="92" name="">
            <a:extLst xmlns:a="http://schemas.openxmlformats.org/drawingml/2006/main">
              <a:ext uri="{FF2B5EF4-FFF2-40B4-BE49-F238E27FC236}">
                <a16:creationId xmlns:a16="http://schemas.microsoft.com/office/drawing/2014/main" id="{F4BE5A81-8D2E-4ADD-B1FA-04BB8B74FA8D}"/>
              </a:ext>
            </a:extLst>
          </p:cNvPr>
          <p:cNvSpPr>
            <a:spLocks xmlns:a="http://schemas.openxmlformats.org/drawingml/2006/main" noGrp="1"/>
          </p:cNvSpPr>
          <p:nvPr/>
        </p:nvSpPr>
        <p:spPr>
          <a:xfrm xmlns:a="http://schemas.openxmlformats.org/drawingml/2006/main">
            <a:off x="23917275" y="5172075"/>
            <a:ext cx="27527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8A5134"/>
                </a:solidFill>
              </a:defRPr>
            </a:pPr>
            <a:r>
              <a:rPr sz="2250" b="1">
                <a:solidFill>
                  <a:srgbClr val="8A5134"/>
                </a:solidFill>
              </a:rPr>
              <a:t>40.87%</a:t>
            </a:r>
          </a:p>
        </p:txBody>
      </p:sp>
      <p:sp>
        <p:nvSpPr>
          <p:cNvPr id="93" name="">
            <a:extLst xmlns:a="http://schemas.openxmlformats.org/drawingml/2006/main">
              <a:ext uri="{FF2B5EF4-FFF2-40B4-BE49-F238E27FC236}">
                <a16:creationId xmlns:a16="http://schemas.microsoft.com/office/drawing/2014/main" id="{B561F4F7-B299-49CF-8163-08A7A47C014F}"/>
              </a:ext>
            </a:extLst>
          </p:cNvPr>
          <p:cNvSpPr>
            <a:spLocks xmlns:a="http://schemas.openxmlformats.org/drawingml/2006/main" noGrp="1"/>
          </p:cNvSpPr>
          <p:nvPr/>
        </p:nvSpPr>
        <p:spPr>
          <a:xfrm xmlns:a="http://schemas.openxmlformats.org/drawingml/2006/main">
            <a:off x="23917275" y="5572125"/>
            <a:ext cx="2752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defRPr>
            </a:pPr>
            <a:r>
              <a:rPr sz="1125" b="1">
                <a:solidFill>
                  <a:srgbClr val="111827"/>
                </a:solidFill>
              </a:rPr>
              <a:t>Oracle</a:t>
            </a:r>
          </a:p>
        </p:txBody>
      </p:sp>
      <p:sp>
        <p:nvSpPr>
          <p:cNvPr id="94" name="">
            <a:extLst xmlns:a="http://schemas.openxmlformats.org/drawingml/2006/main">
              <a:ext uri="{FF2B5EF4-FFF2-40B4-BE49-F238E27FC236}">
                <a16:creationId xmlns:a16="http://schemas.microsoft.com/office/drawing/2014/main" id="{142FEAAF-A0AC-45FA-82F9-80B43D6166B9}"/>
              </a:ext>
            </a:extLst>
          </p:cNvPr>
          <p:cNvSpPr>
            <a:spLocks xmlns:a="http://schemas.openxmlformats.org/drawingml/2006/main" noGrp="1"/>
          </p:cNvSpPr>
          <p:nvPr/>
        </p:nvSpPr>
        <p:spPr>
          <a:xfrm xmlns:a="http://schemas.openxmlformats.org/drawingml/2006/main">
            <a:off x="23917275" y="5848350"/>
            <a:ext cx="2752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75569"/>
                </a:solidFill>
              </a:defRPr>
            </a:pPr>
            <a:r>
              <a:rPr sz="975" b="0">
                <a:solidFill>
                  <a:srgbClr val="475569"/>
                </a:solidFill>
              </a:rPr>
              <a:t>168 h perfect future</a:t>
            </a:r>
          </a:p>
        </p:txBody>
      </p:sp>
      <p:sp>
        <p:nvSpPr>
          <p:cNvPr id="95" name="">
            <a:extLst xmlns:a="http://schemas.openxmlformats.org/drawingml/2006/main">
              <a:ext uri="{FF2B5EF4-FFF2-40B4-BE49-F238E27FC236}">
                <a16:creationId xmlns:a16="http://schemas.microsoft.com/office/drawing/2014/main" id="{786D5C8B-AEA6-4359-A370-180E7225E86D}"/>
              </a:ext>
            </a:extLst>
          </p:cNvPr>
          <p:cNvSpPr>
            <a:spLocks xmlns:a="http://schemas.openxmlformats.org/drawingml/2006/main" noGrp="1"/>
          </p:cNvSpPr>
          <p:nvPr/>
        </p:nvSpPr>
        <p:spPr>
          <a:xfrm xmlns:a="http://schemas.openxmlformats.org/drawingml/2006/main">
            <a:off x="20516850" y="6515100"/>
            <a:ext cx="6286500" cy="2447925"/>
          </a:xfrm>
          <a:prstGeom xmlns:a="http://schemas.openxmlformats.org/drawingml/2006/main" prst="roundRect">
            <a:avLst>
              <a:gd name="adj" fmla="val 3891"/>
            </a:avLst>
          </a:prstGeom>
          <a:solidFill xmlns:a="http://schemas.openxmlformats.org/drawingml/2006/main">
            <a:srgbClr val="FFFFFF"/>
          </a:solidFill>
          <a:ln xmlns:a="http://schemas.openxmlformats.org/drawingml/2006/main" w="19050">
            <a:solidFill>
              <a:srgbClr val="D1D5DB"/>
            </a:solidFill>
            <a:prstDash val="solid"/>
          </a:ln>
        </p:spPr>
      </p:sp>
      <p:pic>
        <p:nvPicPr>
          <p:cNvPr id="229" name=""/>
          <p:cNvPicPr>
            <a:picLocks xmlns:a="http://schemas.openxmlformats.org/drawingml/2006/main" noChangeAspect="1"/>
          </p:cNvPicPr>
          <p:nvPr/>
        </p:nvPicPr>
        <p:blipFill>
          <a:blip xmlns:r="http://schemas.openxmlformats.org/officeDocument/2006/relationships" xmlns:a="http://schemas.openxmlformats.org/drawingml/2006/main" r:embed="R9907ae1a28844304"/>
          <a:stretch xmlns:a="http://schemas.openxmlformats.org/drawingml/2006/main"/>
        </p:blipFill>
        <p:spPr>
          <a:xfrm xmlns:a="http://schemas.openxmlformats.org/drawingml/2006/main">
            <a:off x="21575411" y="6572250"/>
            <a:ext cx="4169379" cy="2333625"/>
          </a:xfrm>
          <a:prstGeom xmlns:a="http://schemas.openxmlformats.org/drawingml/2006/main" prst="rect">
            <a:avLst/>
          </a:prstGeom>
        </p:spPr>
      </p:pic>
      <p:sp>
        <p:nvSpPr>
          <p:cNvPr id="97" name="">
            <a:extLst xmlns:a="http://schemas.openxmlformats.org/drawingml/2006/main">
              <a:ext uri="{FF2B5EF4-FFF2-40B4-BE49-F238E27FC236}">
                <a16:creationId xmlns:a16="http://schemas.microsoft.com/office/drawing/2014/main" id="{1B19657B-4758-47D7-BE05-57430FDD2F8C}"/>
              </a:ext>
            </a:extLst>
          </p:cNvPr>
          <p:cNvSpPr>
            <a:spLocks xmlns:a="http://schemas.openxmlformats.org/drawingml/2006/main" noGrp="1"/>
          </p:cNvSpPr>
          <p:nvPr/>
        </p:nvSpPr>
        <p:spPr>
          <a:xfrm xmlns:a="http://schemas.openxmlformats.org/drawingml/2006/main">
            <a:off x="20669250" y="9001125"/>
            <a:ext cx="5981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34155"/>
                </a:solidFill>
              </a:defRPr>
            </a:pPr>
            <a:r>
              <a:rPr sz="1050" b="0">
                <a:solidFill>
                  <a:srgbClr val="334155"/>
                </a:solidFill>
              </a:rPr>
              <a:t>Scenario result: 3 scenarios performed best. More scenarios became more cautious and did not add enough value.</a:t>
            </a:r>
          </a:p>
        </p:txBody>
      </p:sp>
      <p:sp>
        <p:nvSpPr>
          <p:cNvPr id="98" name="">
            <a:extLst xmlns:a="http://schemas.openxmlformats.org/drawingml/2006/main">
              <a:ext uri="{FF2B5EF4-FFF2-40B4-BE49-F238E27FC236}">
                <a16:creationId xmlns:a16="http://schemas.microsoft.com/office/drawing/2014/main" id="{D28528D7-2F12-428C-AF3E-64600A42AA26}"/>
              </a:ext>
            </a:extLst>
          </p:cNvPr>
          <p:cNvSpPr>
            <a:spLocks xmlns:a="http://schemas.openxmlformats.org/drawingml/2006/main" noGrp="1"/>
          </p:cNvSpPr>
          <p:nvPr/>
        </p:nvSpPr>
        <p:spPr>
          <a:xfrm xmlns:a="http://schemas.openxmlformats.org/drawingml/2006/main">
            <a:off x="20516850" y="9610725"/>
            <a:ext cx="6286500" cy="2019300"/>
          </a:xfrm>
          <a:prstGeom xmlns:a="http://schemas.openxmlformats.org/drawingml/2006/main" prst="roundRect">
            <a:avLst>
              <a:gd name="adj" fmla="val 4717"/>
            </a:avLst>
          </a:prstGeom>
          <a:solidFill xmlns:a="http://schemas.openxmlformats.org/drawingml/2006/main">
            <a:srgbClr val="FFFFFF"/>
          </a:solidFill>
          <a:ln xmlns:a="http://schemas.openxmlformats.org/drawingml/2006/main" w="19050">
            <a:solidFill>
              <a:srgbClr val="D1D5DB"/>
            </a:solidFill>
            <a:prstDash val="solid"/>
          </a:ln>
        </p:spPr>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f0cef5853e9d4cc3"/>
          <a:stretch xmlns:a="http://schemas.openxmlformats.org/drawingml/2006/main"/>
        </p:blipFill>
        <p:spPr>
          <a:xfrm xmlns:a="http://schemas.openxmlformats.org/drawingml/2006/main">
            <a:off x="22036816" y="9667875"/>
            <a:ext cx="3246568" cy="1905000"/>
          </a:xfrm>
          <a:prstGeom xmlns:a="http://schemas.openxmlformats.org/drawingml/2006/main" prst="rect">
            <a:avLst/>
          </a:prstGeom>
        </p:spPr>
      </p:pic>
      <p:sp>
        <p:nvSpPr>
          <p:cNvPr id="100" name="">
            <a:extLst xmlns:a="http://schemas.openxmlformats.org/drawingml/2006/main">
              <a:ext uri="{FF2B5EF4-FFF2-40B4-BE49-F238E27FC236}">
                <a16:creationId xmlns:a16="http://schemas.microsoft.com/office/drawing/2014/main" id="{B48DA4A9-F3C6-476B-B63F-9D93CD0F5B68}"/>
              </a:ext>
            </a:extLst>
          </p:cNvPr>
          <p:cNvSpPr>
            <a:spLocks xmlns:a="http://schemas.openxmlformats.org/drawingml/2006/main" noGrp="1"/>
          </p:cNvSpPr>
          <p:nvPr/>
        </p:nvSpPr>
        <p:spPr>
          <a:xfrm xmlns:a="http://schemas.openxmlformats.org/drawingml/2006/main">
            <a:off x="20669250" y="11668125"/>
            <a:ext cx="5981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334155"/>
                </a:solidFill>
              </a:defRPr>
            </a:pPr>
            <a:r>
              <a:rPr sz="975" b="0">
                <a:solidFill>
                  <a:srgbClr val="334155"/>
                </a:solidFill>
              </a:rPr>
              <a:t>Revenue and COVE move together here: the strongest scenario case both earns more and lowers COVE against the benchmark.</a:t>
            </a:r>
          </a:p>
        </p:txBody>
      </p:sp>
      <p:sp>
        <p:nvSpPr>
          <p:cNvPr id="101" name="">
            <a:extLst xmlns:a="http://schemas.openxmlformats.org/drawingml/2006/main">
              <a:ext uri="{FF2B5EF4-FFF2-40B4-BE49-F238E27FC236}">
                <a16:creationId xmlns:a16="http://schemas.microsoft.com/office/drawing/2014/main" id="{47B82AEE-F716-4982-A905-40B21FB27255}"/>
              </a:ext>
            </a:extLst>
          </p:cNvPr>
          <p:cNvSpPr>
            <a:spLocks xmlns:a="http://schemas.openxmlformats.org/drawingml/2006/main" noGrp="1"/>
          </p:cNvSpPr>
          <p:nvPr/>
        </p:nvSpPr>
        <p:spPr>
          <a:xfrm xmlns:a="http://schemas.openxmlformats.org/drawingml/2006/main">
            <a:off x="590550" y="12620625"/>
            <a:ext cx="12954000" cy="3857625"/>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BDD8C1"/>
            </a:solidFill>
            <a:prstDash val="solid"/>
          </a:ln>
        </p:spPr>
      </p:sp>
      <p:sp>
        <p:nvSpPr>
          <p:cNvPr id="102" name="">
            <a:extLst xmlns:a="http://schemas.openxmlformats.org/drawingml/2006/main">
              <a:ext uri="{FF2B5EF4-FFF2-40B4-BE49-F238E27FC236}">
                <a16:creationId xmlns:a16="http://schemas.microsoft.com/office/drawing/2014/main" id="{1A197149-26D6-47DF-B3DC-4657E81296EF}"/>
              </a:ext>
            </a:extLst>
          </p:cNvPr>
          <p:cNvSpPr>
            <a:spLocks xmlns:a="http://schemas.openxmlformats.org/drawingml/2006/main" noGrp="1"/>
          </p:cNvSpPr>
          <p:nvPr/>
        </p:nvSpPr>
        <p:spPr>
          <a:xfrm xmlns:a="http://schemas.openxmlformats.org/drawingml/2006/main">
            <a:off x="838200" y="12849225"/>
            <a:ext cx="1219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557A5A"/>
                </a:solidFill>
              </a:defRPr>
            </a:pPr>
            <a:r>
              <a:rPr sz="2025" b="1">
                <a:solidFill>
                  <a:srgbClr val="557A5A"/>
                </a:solidFill>
              </a:rPr>
              <a:t>5. Main Conclusion</a:t>
            </a:r>
          </a:p>
        </p:txBody>
      </p:sp>
      <p:sp>
        <p:nvSpPr>
          <p:cNvPr id="103" name="">
            <a:extLst xmlns:a="http://schemas.openxmlformats.org/drawingml/2006/main">
              <a:ext uri="{FF2B5EF4-FFF2-40B4-BE49-F238E27FC236}">
                <a16:creationId xmlns:a16="http://schemas.microsoft.com/office/drawing/2014/main" id="{7421F1F1-83C3-4571-B1DC-F5DC53804140}"/>
              </a:ext>
            </a:extLst>
          </p:cNvPr>
          <p:cNvSpPr>
            <a:spLocks xmlns:a="http://schemas.openxmlformats.org/drawingml/2006/main" noGrp="1"/>
          </p:cNvSpPr>
          <p:nvPr/>
        </p:nvSpPr>
        <p:spPr>
          <a:xfrm xmlns:a="http://schemas.openxmlformats.org/drawingml/2006/main">
            <a:off x="838200" y="13220700"/>
            <a:ext cx="12192000" cy="38100"/>
          </a:xfrm>
          <a:prstGeom xmlns:a="http://schemas.openxmlformats.org/drawingml/2006/main" prst="rect">
            <a:avLst/>
          </a:prstGeom>
          <a:solidFill xmlns:a="http://schemas.openxmlformats.org/drawingml/2006/main">
            <a:srgbClr val="557A5A"/>
          </a:solidFill>
          <a:ln xmlns:a="http://schemas.openxmlformats.org/drawingml/2006/main" w="0">
            <a:solidFill>
              <a:srgbClr val="557A5A"/>
            </a:solidFill>
            <a:prstDash val="solid"/>
          </a:ln>
        </p:spPr>
      </p:sp>
      <p:sp>
        <p:nvSpPr>
          <p:cNvPr id="104" name="">
            <a:extLst xmlns:a="http://schemas.openxmlformats.org/drawingml/2006/main">
              <a:ext uri="{FF2B5EF4-FFF2-40B4-BE49-F238E27FC236}">
                <a16:creationId xmlns:a16="http://schemas.microsoft.com/office/drawing/2014/main" id="{F15E4EF1-269D-4F43-ACE4-BC57DD39EF78}"/>
              </a:ext>
            </a:extLst>
          </p:cNvPr>
          <p:cNvSpPr>
            <a:spLocks xmlns:a="http://schemas.openxmlformats.org/drawingml/2006/main" noGrp="1"/>
          </p:cNvSpPr>
          <p:nvPr/>
        </p:nvSpPr>
        <p:spPr>
          <a:xfrm xmlns:a="http://schemas.openxmlformats.org/drawingml/2006/main">
            <a:off x="895350" y="13477875"/>
            <a:ext cx="121920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F2937"/>
                </a:solidFill>
              </a:defRPr>
            </a:pPr>
            <a:r>
              <a:rPr sz="1275" b="0">
                <a:solidFill>
                  <a:srgbClr val="1F2937"/>
                </a:solidFill>
              </a:rPr>
              <a:t>• The strongest realistic result came from the scenario-based controller because it planned under multiple possible futures and corrected decisions quickly.</a:t>
            </a:r>
          </a:p>
          <a:p xmlns:a="http://schemas.openxmlformats.org/drawingml/2006/main">
            <a:pPr algn="l">
              <a:defRPr sz="1275" b="0">
                <a:solidFill>
                  <a:srgbClr val="1F2937"/>
                </a:solidFill>
              </a:defRPr>
            </a:pPr>
            <a:r>
              <a:rPr sz="1275" b="0">
                <a:solidFill>
                  <a:srgbClr val="1F2937"/>
                </a:solidFill>
              </a:rPr>
              <a:t>• The deterministic 48 h case is useful because it shows the best one-forecast version of the method.</a:t>
            </a:r>
          </a:p>
          <a:p xmlns:a="http://schemas.openxmlformats.org/drawingml/2006/main">
            <a:pPr algn="l">
              <a:defRPr sz="1275" b="0">
                <a:solidFill>
                  <a:srgbClr val="1F2937"/>
                </a:solidFill>
              </a:defRPr>
            </a:pPr>
            <a:r>
              <a:rPr sz="1275" b="0">
                <a:solidFill>
                  <a:srgbClr val="1F2937"/>
                </a:solidFill>
              </a:rPr>
              <a:t>• The oracle is not realistic, but it shows the upper bound if future wind and price were known perfectly.</a:t>
            </a:r>
          </a:p>
          <a:p xmlns:a="http://schemas.openxmlformats.org/drawingml/2006/main">
            <a:pPr algn="l">
              <a:defRPr sz="1275" b="0">
                <a:solidFill>
                  <a:srgbClr val="1F2937"/>
                </a:solidFill>
              </a:defRPr>
            </a:pPr>
            <a:r>
              <a:rPr sz="1275" b="0">
                <a:solidFill>
                  <a:srgbClr val="1F2937"/>
                </a:solidFill>
              </a:rPr>
              <a:t>• The core claim is not just that Gurobi optimizes dispatch. The key result is that forecast design and dispatch design have to be tuned together.</a:t>
            </a:r>
          </a:p>
          <a:p xmlns:a="http://schemas.openxmlformats.org/drawingml/2006/main">
            <a:pPr algn="l">
              <a:defRPr sz="1275" b="0">
                <a:solidFill>
                  <a:srgbClr val="1F2937"/>
                </a:solidFill>
              </a:defRPr>
            </a:pPr>
            <a:r>
              <a:rPr sz="1275" b="0">
                <a:solidFill>
                  <a:srgbClr val="1F2937"/>
                </a:solidFill>
              </a:rPr>
              <a:t>• This matters for real wind farms because storage decisions are only useful when they respect uncertainty and physical constraints at the same time.</a:t>
            </a:r>
          </a:p>
        </p:txBody>
      </p:sp>
      <p:sp>
        <p:nvSpPr>
          <p:cNvPr id="105" name="">
            <a:extLst xmlns:a="http://schemas.openxmlformats.org/drawingml/2006/main">
              <a:ext uri="{FF2B5EF4-FFF2-40B4-BE49-F238E27FC236}">
                <a16:creationId xmlns:a16="http://schemas.microsoft.com/office/drawing/2014/main" id="{6B70EF6C-0487-44CF-8463-B9DF10B3A1BF}"/>
              </a:ext>
            </a:extLst>
          </p:cNvPr>
          <p:cNvSpPr>
            <a:spLocks xmlns:a="http://schemas.openxmlformats.org/drawingml/2006/main" noGrp="1"/>
          </p:cNvSpPr>
          <p:nvPr/>
        </p:nvSpPr>
        <p:spPr>
          <a:xfrm xmlns:a="http://schemas.openxmlformats.org/drawingml/2006/main">
            <a:off x="895350" y="15306675"/>
            <a:ext cx="3733800" cy="685800"/>
          </a:xfrm>
          <a:prstGeom xmlns:a="http://schemas.openxmlformats.org/drawingml/2006/main" prst="roundRect">
            <a:avLst>
              <a:gd name="adj" fmla="val 16667"/>
            </a:avLst>
          </a:prstGeom>
          <a:solidFill xmlns:a="http://schemas.openxmlformats.org/drawingml/2006/main">
            <a:srgbClr val="EEF5EF"/>
          </a:solidFill>
          <a:ln xmlns:a="http://schemas.openxmlformats.org/drawingml/2006/main" w="19050">
            <a:solidFill>
              <a:srgbClr val="BDD8C1"/>
            </a:solidFill>
            <a:prstDash val="solid"/>
          </a:ln>
        </p:spPr>
      </p:sp>
      <p:sp>
        <p:nvSpPr>
          <p:cNvPr id="106" name="">
            <a:extLst xmlns:a="http://schemas.openxmlformats.org/drawingml/2006/main">
              <a:ext uri="{FF2B5EF4-FFF2-40B4-BE49-F238E27FC236}">
                <a16:creationId xmlns:a16="http://schemas.microsoft.com/office/drawing/2014/main" id="{BBA1314A-2339-4848-B4E6-094168D59458}"/>
              </a:ext>
            </a:extLst>
          </p:cNvPr>
          <p:cNvSpPr>
            <a:spLocks xmlns:a="http://schemas.openxmlformats.org/drawingml/2006/main" noGrp="1"/>
          </p:cNvSpPr>
          <p:nvPr/>
        </p:nvSpPr>
        <p:spPr>
          <a:xfrm xmlns:a="http://schemas.openxmlformats.org/drawingml/2006/main">
            <a:off x="1085850" y="154400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335A39"/>
                </a:solidFill>
              </a:defRPr>
            </a:pPr>
            <a:r>
              <a:rPr sz="1125" b="1">
                <a:solidFill>
                  <a:srgbClr val="335A39"/>
                </a:solidFill>
              </a:rPr>
              <a:t>Best realistic method</a:t>
            </a:r>
          </a:p>
        </p:txBody>
      </p:sp>
      <p:sp>
        <p:nvSpPr>
          <p:cNvPr id="107" name="">
            <a:extLst xmlns:a="http://schemas.openxmlformats.org/drawingml/2006/main">
              <a:ext uri="{FF2B5EF4-FFF2-40B4-BE49-F238E27FC236}">
                <a16:creationId xmlns:a16="http://schemas.microsoft.com/office/drawing/2014/main" id="{60E9FFA9-5DB3-4121-BE57-5F1E94F50140}"/>
              </a:ext>
            </a:extLst>
          </p:cNvPr>
          <p:cNvSpPr>
            <a:spLocks xmlns:a="http://schemas.openxmlformats.org/drawingml/2006/main" noGrp="1"/>
          </p:cNvSpPr>
          <p:nvPr/>
        </p:nvSpPr>
        <p:spPr>
          <a:xfrm xmlns:a="http://schemas.openxmlformats.org/drawingml/2006/main">
            <a:off x="1085850" y="156876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34155"/>
                </a:solidFill>
              </a:defRPr>
            </a:pPr>
            <a:r>
              <a:rPr sz="1050" b="0">
                <a:solidFill>
                  <a:srgbClr val="334155"/>
                </a:solidFill>
              </a:rPr>
              <a:t>3 scenarios with hourly replanning</a:t>
            </a:r>
          </a:p>
        </p:txBody>
      </p:sp>
      <p:sp>
        <p:nvSpPr>
          <p:cNvPr id="108" name="">
            <a:extLst xmlns:a="http://schemas.openxmlformats.org/drawingml/2006/main">
              <a:ext uri="{FF2B5EF4-FFF2-40B4-BE49-F238E27FC236}">
                <a16:creationId xmlns:a16="http://schemas.microsoft.com/office/drawing/2014/main" id="{5E37AD30-B218-4073-846C-C29BB7163C19}"/>
              </a:ext>
            </a:extLst>
          </p:cNvPr>
          <p:cNvSpPr>
            <a:spLocks xmlns:a="http://schemas.openxmlformats.org/drawingml/2006/main" noGrp="1"/>
          </p:cNvSpPr>
          <p:nvPr/>
        </p:nvSpPr>
        <p:spPr>
          <a:xfrm xmlns:a="http://schemas.openxmlformats.org/drawingml/2006/main">
            <a:off x="4933950" y="15306675"/>
            <a:ext cx="3733800" cy="685800"/>
          </a:xfrm>
          <a:prstGeom xmlns:a="http://schemas.openxmlformats.org/drawingml/2006/main" prst="roundRect">
            <a:avLst>
              <a:gd name="adj" fmla="val 16667"/>
            </a:avLst>
          </a:prstGeom>
          <a:solidFill xmlns:a="http://schemas.openxmlformats.org/drawingml/2006/main">
            <a:srgbClr val="F8FAFC"/>
          </a:solidFill>
          <a:ln xmlns:a="http://schemas.openxmlformats.org/drawingml/2006/main" w="19050">
            <a:solidFill>
              <a:srgbClr val="CBD5D8"/>
            </a:solidFill>
            <a:prstDash val="solid"/>
          </a:ln>
        </p:spPr>
      </p:sp>
      <p:sp>
        <p:nvSpPr>
          <p:cNvPr id="109" name="">
            <a:extLst xmlns:a="http://schemas.openxmlformats.org/drawingml/2006/main">
              <a:ext uri="{FF2B5EF4-FFF2-40B4-BE49-F238E27FC236}">
                <a16:creationId xmlns:a16="http://schemas.microsoft.com/office/drawing/2014/main" id="{3981FDF5-CB99-4A17-B866-09B6E41ED806}"/>
              </a:ext>
            </a:extLst>
          </p:cNvPr>
          <p:cNvSpPr>
            <a:spLocks xmlns:a="http://schemas.openxmlformats.org/drawingml/2006/main" noGrp="1"/>
          </p:cNvSpPr>
          <p:nvPr/>
        </p:nvSpPr>
        <p:spPr>
          <a:xfrm xmlns:a="http://schemas.openxmlformats.org/drawingml/2006/main">
            <a:off x="5124450" y="154400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486A86"/>
                </a:solidFill>
              </a:defRPr>
            </a:pPr>
            <a:r>
              <a:rPr sz="1125" b="1">
                <a:solidFill>
                  <a:srgbClr val="486A86"/>
                </a:solidFill>
              </a:rPr>
              <a:t>Why it worked</a:t>
            </a:r>
          </a:p>
        </p:txBody>
      </p:sp>
      <p:sp>
        <p:nvSpPr>
          <p:cNvPr id="110" name="">
            <a:extLst xmlns:a="http://schemas.openxmlformats.org/drawingml/2006/main">
              <a:ext uri="{FF2B5EF4-FFF2-40B4-BE49-F238E27FC236}">
                <a16:creationId xmlns:a16="http://schemas.microsoft.com/office/drawing/2014/main" id="{48FA0924-2015-433F-8ABF-3B6512893BD1}"/>
              </a:ext>
            </a:extLst>
          </p:cNvPr>
          <p:cNvSpPr>
            <a:spLocks xmlns:a="http://schemas.openxmlformats.org/drawingml/2006/main" noGrp="1"/>
          </p:cNvSpPr>
          <p:nvPr/>
        </p:nvSpPr>
        <p:spPr>
          <a:xfrm xmlns:a="http://schemas.openxmlformats.org/drawingml/2006/main">
            <a:off x="5124450" y="156876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34155"/>
                </a:solidFill>
              </a:defRPr>
            </a:pPr>
            <a:r>
              <a:rPr sz="1050" b="0">
                <a:solidFill>
                  <a:srgbClr val="334155"/>
                </a:solidFill>
              </a:rPr>
              <a:t>It reacted faster to forecast mistakes.</a:t>
            </a:r>
          </a:p>
        </p:txBody>
      </p:sp>
      <p:sp>
        <p:nvSpPr>
          <p:cNvPr id="111" name="">
            <a:extLst xmlns:a="http://schemas.openxmlformats.org/drawingml/2006/main">
              <a:ext uri="{FF2B5EF4-FFF2-40B4-BE49-F238E27FC236}">
                <a16:creationId xmlns:a16="http://schemas.microsoft.com/office/drawing/2014/main" id="{837C2032-65E6-430C-AA25-BC1F39A25120}"/>
              </a:ext>
            </a:extLst>
          </p:cNvPr>
          <p:cNvSpPr>
            <a:spLocks xmlns:a="http://schemas.openxmlformats.org/drawingml/2006/main" noGrp="1"/>
          </p:cNvSpPr>
          <p:nvPr/>
        </p:nvSpPr>
        <p:spPr>
          <a:xfrm xmlns:a="http://schemas.openxmlformats.org/drawingml/2006/main">
            <a:off x="8972550" y="15306675"/>
            <a:ext cx="3733800" cy="685800"/>
          </a:xfrm>
          <a:prstGeom xmlns:a="http://schemas.openxmlformats.org/drawingml/2006/main" prst="roundRect">
            <a:avLst>
              <a:gd name="adj" fmla="val 16667"/>
            </a:avLst>
          </a:prstGeom>
          <a:solidFill xmlns:a="http://schemas.openxmlformats.org/drawingml/2006/main">
            <a:srgbClr val="F8FAFC"/>
          </a:solidFill>
          <a:ln xmlns:a="http://schemas.openxmlformats.org/drawingml/2006/main" w="19050">
            <a:solidFill>
              <a:srgbClr val="D6D3D1"/>
            </a:solidFill>
            <a:prstDash val="solid"/>
          </a:ln>
        </p:spPr>
      </p:sp>
      <p:sp>
        <p:nvSpPr>
          <p:cNvPr id="112" name="">
            <a:extLst xmlns:a="http://schemas.openxmlformats.org/drawingml/2006/main">
              <a:ext uri="{FF2B5EF4-FFF2-40B4-BE49-F238E27FC236}">
                <a16:creationId xmlns:a16="http://schemas.microsoft.com/office/drawing/2014/main" id="{F537EEE3-0011-4587-AE32-4E7BFEF35789}"/>
              </a:ext>
            </a:extLst>
          </p:cNvPr>
          <p:cNvSpPr>
            <a:spLocks xmlns:a="http://schemas.openxmlformats.org/drawingml/2006/main" noGrp="1"/>
          </p:cNvSpPr>
          <p:nvPr/>
        </p:nvSpPr>
        <p:spPr>
          <a:xfrm xmlns:a="http://schemas.openxmlformats.org/drawingml/2006/main">
            <a:off x="9163050" y="154400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4B5563"/>
                </a:solidFill>
              </a:defRPr>
            </a:pPr>
            <a:r>
              <a:rPr sz="1125" b="1">
                <a:solidFill>
                  <a:srgbClr val="4B5563"/>
                </a:solidFill>
              </a:rPr>
              <a:t>Oracle meaning</a:t>
            </a:r>
          </a:p>
        </p:txBody>
      </p:sp>
      <p:sp>
        <p:nvSpPr>
          <p:cNvPr id="113" name="">
            <a:extLst xmlns:a="http://schemas.openxmlformats.org/drawingml/2006/main">
              <a:ext uri="{FF2B5EF4-FFF2-40B4-BE49-F238E27FC236}">
                <a16:creationId xmlns:a16="http://schemas.microsoft.com/office/drawing/2014/main" id="{CB291889-0FD8-4E7C-9547-099D01C50F30}"/>
              </a:ext>
            </a:extLst>
          </p:cNvPr>
          <p:cNvSpPr>
            <a:spLocks xmlns:a="http://schemas.openxmlformats.org/drawingml/2006/main" noGrp="1"/>
          </p:cNvSpPr>
          <p:nvPr/>
        </p:nvSpPr>
        <p:spPr>
          <a:xfrm xmlns:a="http://schemas.openxmlformats.org/drawingml/2006/main">
            <a:off x="9163050" y="156876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334155"/>
                </a:solidFill>
              </a:defRPr>
            </a:pPr>
            <a:r>
              <a:rPr sz="1050" b="0">
                <a:solidFill>
                  <a:srgbClr val="334155"/>
                </a:solidFill>
              </a:rPr>
              <a:t>It is the perfect-future ceiling.</a:t>
            </a:r>
          </a:p>
        </p:txBody>
      </p:sp>
      <p:sp>
        <p:nvSpPr>
          <p:cNvPr id="114" name="">
            <a:extLst xmlns:a="http://schemas.openxmlformats.org/drawingml/2006/main">
              <a:ext uri="{FF2B5EF4-FFF2-40B4-BE49-F238E27FC236}">
                <a16:creationId xmlns:a16="http://schemas.microsoft.com/office/drawing/2014/main" id="{53B9407C-6577-439A-981E-E9A9EBA331A7}"/>
              </a:ext>
            </a:extLst>
          </p:cNvPr>
          <p:cNvSpPr>
            <a:spLocks xmlns:a="http://schemas.openxmlformats.org/drawingml/2006/main" noGrp="1"/>
          </p:cNvSpPr>
          <p:nvPr/>
        </p:nvSpPr>
        <p:spPr>
          <a:xfrm xmlns:a="http://schemas.openxmlformats.org/drawingml/2006/main">
            <a:off x="895350" y="16068675"/>
            <a:ext cx="1219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335A39"/>
                </a:solidFill>
              </a:defRPr>
            </a:pPr>
            <a:r>
              <a:rPr sz="1425" b="1">
                <a:solidFill>
                  <a:srgbClr val="335A39"/>
                </a:solidFill>
              </a:rPr>
              <a:t>Best result: 3-scenario forecast-aware rolling-horizon dispatch improved COVE by 40.18% vs the 100 MW benchmark.</a:t>
            </a:r>
          </a:p>
        </p:txBody>
      </p:sp>
      <p:sp>
        <p:nvSpPr>
          <p:cNvPr id="115" name="">
            <a:extLst xmlns:a="http://schemas.openxmlformats.org/drawingml/2006/main">
              <a:ext uri="{FF2B5EF4-FFF2-40B4-BE49-F238E27FC236}">
                <a16:creationId xmlns:a16="http://schemas.microsoft.com/office/drawing/2014/main" id="{BE1D2D69-8414-494E-A6E1-7478171406AA}"/>
              </a:ext>
            </a:extLst>
          </p:cNvPr>
          <p:cNvSpPr>
            <a:spLocks xmlns:a="http://schemas.openxmlformats.org/drawingml/2006/main" noGrp="1"/>
          </p:cNvSpPr>
          <p:nvPr/>
        </p:nvSpPr>
        <p:spPr>
          <a:xfrm xmlns:a="http://schemas.openxmlformats.org/drawingml/2006/main">
            <a:off x="13877925" y="12620625"/>
            <a:ext cx="12954000" cy="3857625"/>
          </a:xfrm>
          <a:prstGeom xmlns:a="http://schemas.openxmlformats.org/drawingml/2006/main" prst="roundRect">
            <a:avLst>
              <a:gd name="adj" fmla="val 2963"/>
            </a:avLst>
          </a:prstGeom>
          <a:solidFill xmlns:a="http://schemas.openxmlformats.org/drawingml/2006/main">
            <a:srgbClr val="1F2933"/>
          </a:solidFill>
          <a:ln xmlns:a="http://schemas.openxmlformats.org/drawingml/2006/main" w="19050">
            <a:solidFill>
              <a:srgbClr val="1F2933"/>
            </a:solidFill>
            <a:prstDash val="solid"/>
          </a:ln>
        </p:spPr>
      </p:sp>
      <p:sp>
        <p:nvSpPr>
          <p:cNvPr id="116" name="">
            <a:extLst xmlns:a="http://schemas.openxmlformats.org/drawingml/2006/main">
              <a:ext uri="{FF2B5EF4-FFF2-40B4-BE49-F238E27FC236}">
                <a16:creationId xmlns:a16="http://schemas.microsoft.com/office/drawing/2014/main" id="{255249DD-3F7C-49A8-9CF7-5177B37ACE55}"/>
              </a:ext>
            </a:extLst>
          </p:cNvPr>
          <p:cNvSpPr>
            <a:spLocks xmlns:a="http://schemas.openxmlformats.org/drawingml/2006/main" noGrp="1"/>
          </p:cNvSpPr>
          <p:nvPr/>
        </p:nvSpPr>
        <p:spPr>
          <a:xfrm xmlns:a="http://schemas.openxmlformats.org/drawingml/2006/main">
            <a:off x="14163675" y="12849225"/>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Definitions and Acknowledgements</a:t>
            </a:r>
          </a:p>
        </p:txBody>
      </p:sp>
      <p:sp>
        <p:nvSpPr>
          <p:cNvPr id="117" name="">
            <a:extLst xmlns:a="http://schemas.openxmlformats.org/drawingml/2006/main">
              <a:ext uri="{FF2B5EF4-FFF2-40B4-BE49-F238E27FC236}">
                <a16:creationId xmlns:a16="http://schemas.microsoft.com/office/drawing/2014/main" id="{5AF37547-43EA-4CA2-930B-A48A8BF7AB84}"/>
              </a:ext>
            </a:extLst>
          </p:cNvPr>
          <p:cNvSpPr>
            <a:spLocks xmlns:a="http://schemas.openxmlformats.org/drawingml/2006/main" noGrp="1"/>
          </p:cNvSpPr>
          <p:nvPr/>
        </p:nvSpPr>
        <p:spPr>
          <a:xfrm xmlns:a="http://schemas.openxmlformats.org/drawingml/2006/main">
            <a:off x="14163675" y="13344525"/>
            <a:ext cx="7239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E2E8F0"/>
                </a:solidFill>
              </a:defRPr>
            </a:pPr>
            <a:r>
              <a:rPr sz="1200" b="0">
                <a:solidFill>
                  <a:srgbClr val="E2E8F0"/>
                </a:solidFill>
              </a:rPr>
              <a:t>• 100 MW benchmark: rule-based storage case that tries to deliver 100 MW every hour.</a:t>
            </a:r>
          </a:p>
          <a:p xmlns:a="http://schemas.openxmlformats.org/drawingml/2006/main">
            <a:pPr algn="l">
              <a:defRPr sz="1200" b="0">
                <a:solidFill>
                  <a:srgbClr val="E2E8F0"/>
                </a:solidFill>
              </a:defRPr>
            </a:pPr>
            <a:r>
              <a:rPr sz="1200" b="0">
                <a:solidFill>
                  <a:srgbClr val="E2E8F0"/>
                </a:solidFill>
              </a:rPr>
              <a:t>• Rolling horizon: solve the future, execute the near-term action, update SoC, then solve again.</a:t>
            </a:r>
          </a:p>
          <a:p xmlns:a="http://schemas.openxmlformats.org/drawingml/2006/main">
            <a:pPr algn="l">
              <a:defRPr sz="1200" b="0">
                <a:solidFill>
                  <a:srgbClr val="E2E8F0"/>
                </a:solidFill>
              </a:defRPr>
            </a:pPr>
            <a:r>
              <a:rPr sz="1200" b="0">
                <a:solidFill>
                  <a:srgbClr val="E2E8F0"/>
                </a:solidFill>
              </a:rPr>
              <a:t>• Scenario dispatch: solve several possible futures instead of one forecast.</a:t>
            </a:r>
          </a:p>
          <a:p xmlns:a="http://schemas.openxmlformats.org/drawingml/2006/main">
            <a:pPr algn="l">
              <a:defRPr sz="1200" b="0">
                <a:solidFill>
                  <a:srgbClr val="E2E8F0"/>
                </a:solidFill>
              </a:defRPr>
            </a:pPr>
            <a:r>
              <a:rPr sz="1200" b="0">
                <a:solidFill>
                  <a:srgbClr val="E2E8F0"/>
                </a:solidFill>
              </a:rPr>
              <a:t>• Oracle: perfect future information, used only as a ceiling.</a:t>
            </a:r>
          </a:p>
          <a:p xmlns:a="http://schemas.openxmlformats.org/drawingml/2006/main">
            <a:pPr algn="l">
              <a:defRPr sz="1200" b="0">
                <a:solidFill>
                  <a:srgbClr val="E2E8F0"/>
                </a:solidFill>
              </a:defRPr>
            </a:pPr>
            <a:r>
              <a:rPr sz="1200" b="0">
                <a:solidFill>
                  <a:srgbClr val="E2E8F0"/>
                </a:solidFill>
              </a:rPr>
              <a:t>• COVE: cost divided by valued delivered energy; lower is better.</a:t>
            </a:r>
          </a:p>
          <a:p xmlns:a="http://schemas.openxmlformats.org/drawingml/2006/main">
            <a:pPr algn="l">
              <a:defRPr sz="1200" b="0">
                <a:solidFill>
                  <a:srgbClr val="E2E8F0"/>
                </a:solidFill>
              </a:defRPr>
            </a:pPr>
            <a:r>
              <a:rPr sz="1200" b="0">
                <a:solidFill>
                  <a:srgbClr val="E2E8F0"/>
                </a:solidFill>
              </a:rPr>
              <a:t>• All reported runs use chronological SoC and checked storage/grid constraints.</a:t>
            </a:r>
          </a:p>
        </p:txBody>
      </p:sp>
      <p:sp>
        <p:nvSpPr>
          <p:cNvPr id="118" name="">
            <a:extLst xmlns:a="http://schemas.openxmlformats.org/drawingml/2006/main">
              <a:ext uri="{FF2B5EF4-FFF2-40B4-BE49-F238E27FC236}">
                <a16:creationId xmlns:a16="http://schemas.microsoft.com/office/drawing/2014/main" id="{FFB2E63F-9962-44A2-AEAA-C3910937643E}"/>
              </a:ext>
            </a:extLst>
          </p:cNvPr>
          <p:cNvSpPr>
            <a:spLocks xmlns:a="http://schemas.openxmlformats.org/drawingml/2006/main" noGrp="1"/>
          </p:cNvSpPr>
          <p:nvPr/>
        </p:nvSpPr>
        <p:spPr>
          <a:xfrm xmlns:a="http://schemas.openxmlformats.org/drawingml/2006/main">
            <a:off x="14163675" y="15497175"/>
            <a:ext cx="2190750" cy="609600"/>
          </a:xfrm>
          <a:prstGeom xmlns:a="http://schemas.openxmlformats.org/drawingml/2006/main" prst="roundRect">
            <a:avLst>
              <a:gd name="adj" fmla="val 18750"/>
            </a:avLst>
          </a:prstGeom>
          <a:solidFill xmlns:a="http://schemas.openxmlformats.org/drawingml/2006/main">
            <a:srgbClr val="263542"/>
          </a:solidFill>
          <a:ln xmlns:a="http://schemas.openxmlformats.org/drawingml/2006/main" w="19050">
            <a:solidFill>
              <a:srgbClr val="475569"/>
            </a:solidFill>
            <a:prstDash val="solid"/>
          </a:ln>
        </p:spPr>
      </p:sp>
      <p:sp>
        <p:nvSpPr>
          <p:cNvPr id="119" name="">
            <a:extLst xmlns:a="http://schemas.openxmlformats.org/drawingml/2006/main">
              <a:ext uri="{FF2B5EF4-FFF2-40B4-BE49-F238E27FC236}">
                <a16:creationId xmlns:a16="http://schemas.microsoft.com/office/drawing/2014/main" id="{972490B2-6D76-46A8-8A05-2C95E7F4D00E}"/>
              </a:ext>
            </a:extLst>
          </p:cNvPr>
          <p:cNvSpPr>
            <a:spLocks xmlns:a="http://schemas.openxmlformats.org/drawingml/2006/main" noGrp="1"/>
          </p:cNvSpPr>
          <p:nvPr/>
        </p:nvSpPr>
        <p:spPr>
          <a:xfrm xmlns:a="http://schemas.openxmlformats.org/drawingml/2006/main">
            <a:off x="14325600" y="1561147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Best forecast</a:t>
            </a:r>
          </a:p>
        </p:txBody>
      </p:sp>
      <p:sp>
        <p:nvSpPr>
          <p:cNvPr id="120" name="">
            <a:extLst xmlns:a="http://schemas.openxmlformats.org/drawingml/2006/main">
              <a:ext uri="{FF2B5EF4-FFF2-40B4-BE49-F238E27FC236}">
                <a16:creationId xmlns:a16="http://schemas.microsoft.com/office/drawing/2014/main" id="{071D14AE-BA17-4E0E-ADE9-737DD87FB833}"/>
              </a:ext>
            </a:extLst>
          </p:cNvPr>
          <p:cNvSpPr>
            <a:spLocks xmlns:a="http://schemas.openxmlformats.org/drawingml/2006/main" noGrp="1"/>
          </p:cNvSpPr>
          <p:nvPr/>
        </p:nvSpPr>
        <p:spPr>
          <a:xfrm xmlns:a="http://schemas.openxmlformats.org/drawingml/2006/main">
            <a:off x="14325600" y="1584007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CDE7E1"/>
                </a:solidFill>
              </a:defRPr>
            </a:pPr>
            <a:r>
              <a:rPr sz="975" b="0">
                <a:solidFill>
                  <a:srgbClr val="CDE7E1"/>
                </a:solidFill>
              </a:rPr>
              <a:t>21.24 MW RMSE</a:t>
            </a:r>
          </a:p>
        </p:txBody>
      </p:sp>
      <p:sp>
        <p:nvSpPr>
          <p:cNvPr id="121" name="">
            <a:extLst xmlns:a="http://schemas.openxmlformats.org/drawingml/2006/main">
              <a:ext uri="{FF2B5EF4-FFF2-40B4-BE49-F238E27FC236}">
                <a16:creationId xmlns:a16="http://schemas.microsoft.com/office/drawing/2014/main" id="{B248699C-6883-4BC7-8D54-11CF595AB1F1}"/>
              </a:ext>
            </a:extLst>
          </p:cNvPr>
          <p:cNvSpPr>
            <a:spLocks xmlns:a="http://schemas.openxmlformats.org/drawingml/2006/main" noGrp="1"/>
          </p:cNvSpPr>
          <p:nvPr/>
        </p:nvSpPr>
        <p:spPr>
          <a:xfrm xmlns:a="http://schemas.openxmlformats.org/drawingml/2006/main">
            <a:off x="16516350" y="15497175"/>
            <a:ext cx="2190750" cy="609600"/>
          </a:xfrm>
          <a:prstGeom xmlns:a="http://schemas.openxmlformats.org/drawingml/2006/main" prst="roundRect">
            <a:avLst>
              <a:gd name="adj" fmla="val 18750"/>
            </a:avLst>
          </a:prstGeom>
          <a:solidFill xmlns:a="http://schemas.openxmlformats.org/drawingml/2006/main">
            <a:srgbClr val="263542"/>
          </a:solidFill>
          <a:ln xmlns:a="http://schemas.openxmlformats.org/drawingml/2006/main" w="19050">
            <a:solidFill>
              <a:srgbClr val="475569"/>
            </a:solidFill>
            <a:prstDash val="solid"/>
          </a:ln>
        </p:spPr>
      </p:sp>
      <p:sp>
        <p:nvSpPr>
          <p:cNvPr id="122" name="">
            <a:extLst xmlns:a="http://schemas.openxmlformats.org/drawingml/2006/main">
              <a:ext uri="{FF2B5EF4-FFF2-40B4-BE49-F238E27FC236}">
                <a16:creationId xmlns:a16="http://schemas.microsoft.com/office/drawing/2014/main" id="{4517EB40-9A9D-4F8C-94A7-23B32851B2C9}"/>
              </a:ext>
            </a:extLst>
          </p:cNvPr>
          <p:cNvSpPr>
            <a:spLocks xmlns:a="http://schemas.openxmlformats.org/drawingml/2006/main" noGrp="1"/>
          </p:cNvSpPr>
          <p:nvPr/>
        </p:nvSpPr>
        <p:spPr>
          <a:xfrm xmlns:a="http://schemas.openxmlformats.org/drawingml/2006/main">
            <a:off x="16678275" y="1561147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Best realistic</a:t>
            </a:r>
          </a:p>
        </p:txBody>
      </p:sp>
      <p:sp>
        <p:nvSpPr>
          <p:cNvPr id="123" name="">
            <a:extLst xmlns:a="http://schemas.openxmlformats.org/drawingml/2006/main">
              <a:ext uri="{FF2B5EF4-FFF2-40B4-BE49-F238E27FC236}">
                <a16:creationId xmlns:a16="http://schemas.microsoft.com/office/drawing/2014/main" id="{DFC0BA7F-5A7B-4823-B890-89D0683CEB14}"/>
              </a:ext>
            </a:extLst>
          </p:cNvPr>
          <p:cNvSpPr>
            <a:spLocks xmlns:a="http://schemas.openxmlformats.org/drawingml/2006/main" noGrp="1"/>
          </p:cNvSpPr>
          <p:nvPr/>
        </p:nvSpPr>
        <p:spPr>
          <a:xfrm xmlns:a="http://schemas.openxmlformats.org/drawingml/2006/main">
            <a:off x="16678275" y="1584007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CDE7E1"/>
                </a:solidFill>
              </a:defRPr>
            </a:pPr>
            <a:r>
              <a:rPr sz="975" b="0">
                <a:solidFill>
                  <a:srgbClr val="CDE7E1"/>
                </a:solidFill>
              </a:rPr>
              <a:t>3 scenarios</a:t>
            </a:r>
          </a:p>
        </p:txBody>
      </p:sp>
      <p:sp>
        <p:nvSpPr>
          <p:cNvPr id="124" name="">
            <a:extLst xmlns:a="http://schemas.openxmlformats.org/drawingml/2006/main">
              <a:ext uri="{FF2B5EF4-FFF2-40B4-BE49-F238E27FC236}">
                <a16:creationId xmlns:a16="http://schemas.microsoft.com/office/drawing/2014/main" id="{A0CC699E-B015-475A-BACF-6621AE81424B}"/>
              </a:ext>
            </a:extLst>
          </p:cNvPr>
          <p:cNvSpPr>
            <a:spLocks xmlns:a="http://schemas.openxmlformats.org/drawingml/2006/main" noGrp="1"/>
          </p:cNvSpPr>
          <p:nvPr/>
        </p:nvSpPr>
        <p:spPr>
          <a:xfrm xmlns:a="http://schemas.openxmlformats.org/drawingml/2006/main">
            <a:off x="18869025" y="15497175"/>
            <a:ext cx="2190750" cy="609600"/>
          </a:xfrm>
          <a:prstGeom xmlns:a="http://schemas.openxmlformats.org/drawingml/2006/main" prst="roundRect">
            <a:avLst>
              <a:gd name="adj" fmla="val 18750"/>
            </a:avLst>
          </a:prstGeom>
          <a:solidFill xmlns:a="http://schemas.openxmlformats.org/drawingml/2006/main">
            <a:srgbClr val="263542"/>
          </a:solidFill>
          <a:ln xmlns:a="http://schemas.openxmlformats.org/drawingml/2006/main" w="19050">
            <a:solidFill>
              <a:srgbClr val="475569"/>
            </a:solidFill>
            <a:prstDash val="solid"/>
          </a:ln>
        </p:spPr>
      </p:sp>
      <p:sp>
        <p:nvSpPr>
          <p:cNvPr id="125" name="">
            <a:extLst xmlns:a="http://schemas.openxmlformats.org/drawingml/2006/main">
              <a:ext uri="{FF2B5EF4-FFF2-40B4-BE49-F238E27FC236}">
                <a16:creationId xmlns:a16="http://schemas.microsoft.com/office/drawing/2014/main" id="{FCD53DED-D2FE-49D8-B8DA-A5FE0C0A721E}"/>
              </a:ext>
            </a:extLst>
          </p:cNvPr>
          <p:cNvSpPr>
            <a:spLocks xmlns:a="http://schemas.openxmlformats.org/drawingml/2006/main" noGrp="1"/>
          </p:cNvSpPr>
          <p:nvPr/>
        </p:nvSpPr>
        <p:spPr>
          <a:xfrm xmlns:a="http://schemas.openxmlformats.org/drawingml/2006/main">
            <a:off x="19030950" y="1561147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FFFF"/>
                </a:solidFill>
              </a:defRPr>
            </a:pPr>
            <a:r>
              <a:rPr sz="975" b="1">
                <a:solidFill>
                  <a:srgbClr val="FFFFFF"/>
                </a:solidFill>
              </a:rPr>
              <a:t>Upper bound</a:t>
            </a:r>
          </a:p>
        </p:txBody>
      </p:sp>
      <p:sp>
        <p:nvSpPr>
          <p:cNvPr id="126" name="">
            <a:extLst xmlns:a="http://schemas.openxmlformats.org/drawingml/2006/main">
              <a:ext uri="{FF2B5EF4-FFF2-40B4-BE49-F238E27FC236}">
                <a16:creationId xmlns:a16="http://schemas.microsoft.com/office/drawing/2014/main" id="{27A58244-2ED4-4AC6-9DFC-8D47AF74249A}"/>
              </a:ext>
            </a:extLst>
          </p:cNvPr>
          <p:cNvSpPr>
            <a:spLocks xmlns:a="http://schemas.openxmlformats.org/drawingml/2006/main" noGrp="1"/>
          </p:cNvSpPr>
          <p:nvPr/>
        </p:nvSpPr>
        <p:spPr>
          <a:xfrm xmlns:a="http://schemas.openxmlformats.org/drawingml/2006/main">
            <a:off x="19030950" y="1584007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CDE7E1"/>
                </a:solidFill>
              </a:defRPr>
            </a:pPr>
            <a:r>
              <a:rPr sz="975" b="0">
                <a:solidFill>
                  <a:srgbClr val="CDE7E1"/>
                </a:solidFill>
              </a:rPr>
              <a:t>40.87% COVE</a:t>
            </a:r>
          </a:p>
        </p:txBody>
      </p:sp>
      <p:sp>
        <p:nvSpPr>
          <p:cNvPr id="127" name="">
            <a:extLst xmlns:a="http://schemas.openxmlformats.org/drawingml/2006/main">
              <a:ext uri="{FF2B5EF4-FFF2-40B4-BE49-F238E27FC236}">
                <a16:creationId xmlns:a16="http://schemas.microsoft.com/office/drawing/2014/main" id="{2F470965-27A6-4080-9108-865E3E48843D}"/>
              </a:ext>
            </a:extLst>
          </p:cNvPr>
          <p:cNvSpPr>
            <a:spLocks xmlns:a="http://schemas.openxmlformats.org/drawingml/2006/main" noGrp="1"/>
          </p:cNvSpPr>
          <p:nvPr/>
        </p:nvSpPr>
        <p:spPr>
          <a:xfrm xmlns:a="http://schemas.openxmlformats.org/drawingml/2006/main">
            <a:off x="21736050" y="13344525"/>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E2E8F0"/>
                </a:solidFill>
              </a:defRPr>
            </a:pPr>
            <a:r>
              <a:rPr sz="1200" b="0">
                <a:solidFill>
                  <a:srgbClr val="E2E8F0"/>
                </a:solidFill>
              </a:rPr>
              <a:t>Thank you to Dr. Chris Qin, Nora Hosseiniimeni, Zach Lawrence, Jessica Yao, and the WSU Summer Research Program. Data and assumptions draw from the Pyron wind-storage dataset, ERCOT LMP records, and PNNL CAES storage references.</a:t>
            </a:r>
          </a:p>
        </p:txBody>
      </p:sp>
      <p:sp>
        <p:nvSpPr>
          <p:cNvPr id="128" name="">
            <a:extLst xmlns:a="http://schemas.openxmlformats.org/drawingml/2006/main">
              <a:ext uri="{FF2B5EF4-FFF2-40B4-BE49-F238E27FC236}">
                <a16:creationId xmlns:a16="http://schemas.microsoft.com/office/drawing/2014/main" id="{DE8A273B-E1AB-4273-90D8-5AE2596AF70D}"/>
              </a:ext>
            </a:extLst>
          </p:cNvPr>
          <p:cNvSpPr>
            <a:spLocks xmlns:a="http://schemas.openxmlformats.org/drawingml/2006/main" noGrp="1"/>
          </p:cNvSpPr>
          <p:nvPr/>
        </p:nvSpPr>
        <p:spPr>
          <a:xfrm xmlns:a="http://schemas.openxmlformats.org/drawingml/2006/main">
            <a:off x="21736050" y="148113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What I tested</a:t>
            </a:r>
          </a:p>
        </p:txBody>
      </p:sp>
      <p:sp>
        <p:nvSpPr>
          <p:cNvPr id="129" name="">
            <a:extLst xmlns:a="http://schemas.openxmlformats.org/drawingml/2006/main">
              <a:ext uri="{FF2B5EF4-FFF2-40B4-BE49-F238E27FC236}">
                <a16:creationId xmlns:a16="http://schemas.microsoft.com/office/drawing/2014/main" id="{12AC4D07-02B7-49FA-8FAD-07847024712C}"/>
              </a:ext>
            </a:extLst>
          </p:cNvPr>
          <p:cNvSpPr>
            <a:spLocks xmlns:a="http://schemas.openxmlformats.org/drawingml/2006/main" noGrp="1"/>
          </p:cNvSpPr>
          <p:nvPr/>
        </p:nvSpPr>
        <p:spPr>
          <a:xfrm xmlns:a="http://schemas.openxmlformats.org/drawingml/2006/main">
            <a:off x="21736050" y="150780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E2E8F0"/>
                </a:solidFill>
              </a:defRPr>
            </a:pPr>
            <a:r>
              <a:rPr sz="1050" b="0">
                <a:solidFill>
                  <a:srgbClr val="E2E8F0"/>
                </a:solidFill>
              </a:rPr>
              <a:t>Forecast models, deterministic horizons, scenario counts, oracle ceiling, and constraint checks.</a:t>
            </a:r>
          </a:p>
        </p:txBody>
      </p:sp>
      <p:sp>
        <p:nvSpPr>
          <p:cNvPr id="130" name="">
            <a:extLst xmlns:a="http://schemas.openxmlformats.org/drawingml/2006/main">
              <a:ext uri="{FF2B5EF4-FFF2-40B4-BE49-F238E27FC236}">
                <a16:creationId xmlns:a16="http://schemas.microsoft.com/office/drawing/2014/main" id="{23C78823-6FB1-4C5E-9905-EACD1123DA95}"/>
              </a:ext>
            </a:extLst>
          </p:cNvPr>
          <p:cNvSpPr>
            <a:spLocks xmlns:a="http://schemas.openxmlformats.org/drawingml/2006/main" noGrp="1"/>
          </p:cNvSpPr>
          <p:nvPr/>
        </p:nvSpPr>
        <p:spPr>
          <a:xfrm xmlns:a="http://schemas.openxmlformats.org/drawingml/2006/main">
            <a:off x="21736050" y="1566862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B7D8D2"/>
                </a:solidFill>
              </a:defRPr>
            </a:pPr>
            <a:r>
              <a:rPr sz="1350" b="1">
                <a:solidFill>
                  <a:srgbClr val="B7D8D2"/>
                </a:solidFill>
              </a:rPr>
              <a:t>Contact: dvalent2@ncsu.edu</a:t>
            </a:r>
          </a:p>
        </p:txBody>
      </p:sp>
      <p:sp>
        <p:nvSpPr>
          <p:cNvPr id="131" name="">
            <a:extLst xmlns:a="http://schemas.openxmlformats.org/drawingml/2006/main">
              <a:ext uri="{FF2B5EF4-FFF2-40B4-BE49-F238E27FC236}">
                <a16:creationId xmlns:a16="http://schemas.microsoft.com/office/drawing/2014/main" id="{DC717959-EFA5-458F-9AC7-A81AF131F37C}"/>
              </a:ext>
            </a:extLst>
          </p:cNvPr>
          <p:cNvSpPr>
            <a:spLocks xmlns:a="http://schemas.openxmlformats.org/drawingml/2006/main" noGrp="1"/>
          </p:cNvSpPr>
          <p:nvPr/>
        </p:nvSpPr>
        <p:spPr>
          <a:xfrm xmlns:a="http://schemas.openxmlformats.org/drawingml/2006/main">
            <a:off x="21736050" y="1597342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CBD5E1"/>
                </a:solidFill>
              </a:defRPr>
            </a:pPr>
            <a:r>
              <a:rPr sz="1050" b="0">
                <a:solidFill>
                  <a:srgbClr val="CBD5E1"/>
                </a:solidFill>
              </a:rPr>
              <a:t>Poster size: 30 in x 20 in</a:t>
            </a:r>
          </a:p>
        </p:txBody>
      </p:sp>
      <p:sp>
        <p:nvSpPr>
          <p:cNvPr id="132" name="">
            <a:extLst xmlns:a="http://schemas.openxmlformats.org/drawingml/2006/main">
              <a:ext uri="{FF2B5EF4-FFF2-40B4-BE49-F238E27FC236}">
                <a16:creationId xmlns:a16="http://schemas.microsoft.com/office/drawing/2014/main" id="{5108759A-4B89-452A-B64F-65C89BA37BB2}"/>
              </a:ext>
            </a:extLst>
          </p:cNvPr>
          <p:cNvSpPr>
            <a:spLocks xmlns:a="http://schemas.openxmlformats.org/drawingml/2006/main" noGrp="1"/>
          </p:cNvSpPr>
          <p:nvPr/>
        </p:nvSpPr>
        <p:spPr>
          <a:xfrm xmlns:a="http://schemas.openxmlformats.org/drawingml/2006/main">
            <a:off x="590550" y="16859250"/>
            <a:ext cx="26241375" cy="38100"/>
          </a:xfrm>
          <a:prstGeom xmlns:a="http://schemas.openxmlformats.org/drawingml/2006/main" prst="rect">
            <a:avLst/>
          </a:prstGeom>
          <a:solidFill xmlns:a="http://schemas.openxmlformats.org/drawingml/2006/main">
            <a:srgbClr val="7AA7A0"/>
          </a:solidFill>
          <a:ln xmlns:a="http://schemas.openxmlformats.org/drawingml/2006/main" w="0">
            <a:solidFill>
              <a:srgbClr val="7AA7A0"/>
            </a:solidFill>
            <a:prstDash val="solid"/>
          </a:ln>
        </p:spPr>
      </p:sp>
      <p:sp>
        <p:nvSpPr>
          <p:cNvPr id="133" name="">
            <a:extLst xmlns:a="http://schemas.openxmlformats.org/drawingml/2006/main">
              <a:ext uri="{FF2B5EF4-FFF2-40B4-BE49-F238E27FC236}">
                <a16:creationId xmlns:a16="http://schemas.microsoft.com/office/drawing/2014/main" id="{38C2A647-89C1-49B4-8B06-A77D86AF639A}"/>
              </a:ext>
            </a:extLst>
          </p:cNvPr>
          <p:cNvSpPr>
            <a:spLocks xmlns:a="http://schemas.openxmlformats.org/drawingml/2006/main" noGrp="1"/>
          </p:cNvSpPr>
          <p:nvPr/>
        </p:nvSpPr>
        <p:spPr>
          <a:xfrm xmlns:a="http://schemas.openxmlformats.org/drawingml/2006/main">
            <a:off x="590550" y="17021175"/>
            <a:ext cx="2624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475569"/>
                </a:solidFill>
              </a:defRPr>
            </a:pPr>
            <a:r>
              <a:rPr sz="1125" b="0">
                <a:solidFill>
                  <a:srgbClr val="475569"/>
                </a:solidFill>
              </a:rPr>
              <a:t>Primary metrics compare against the 100 MW constant-output CAES benchmark; wind-only is retained only as a secondary reference.</a:t>
            </a:r>
          </a:p>
        </p:txBody>
      </p:sp>
    </p:spTree>
    <p:extLst>
      <p:ext uri="{BB962C8B-B14F-4D97-AF65-F5344CB8AC3E}">
        <p14:creationId xmlns:p14="http://schemas.microsoft.com/office/powerpoint/2010/main" val="843930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2026-07-31T00:58:15.2450000Z</dcterms:created>
  <dcterms:modified xsi:type="dcterms:W3CDTF">2026-07-31T00:58:15.2450000Z</dcterms:modified>
</coreProperties>
</file>