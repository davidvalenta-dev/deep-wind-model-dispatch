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8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9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10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1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8d66963dc74e23" /><Relationship Type="http://schemas.openxmlformats.org/officeDocument/2006/relationships/extended-properties" Target="/docProps/app.xml" Id="R10fdaaab56884c26" /><Relationship Type="http://schemas.openxmlformats.org/officeDocument/2006/relationships/officeDocument" Target="/ppt/presentation.xml" Id="R6e6be52b0f484a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785801aef749b8"/>
  </p:sldMasterIdLst>
  <p:notesMasterIdLst>
    <p:notesMasterId xmlns:r="http://schemas.openxmlformats.org/officeDocument/2006/relationships" r:id="R21290ecb95524417"/>
  </p:notesMasterIdLst>
  <p:sldIdLst>
    <p:sldId xmlns:r="http://schemas.openxmlformats.org/officeDocument/2006/relationships" id="256" r:id="R699c8b3d027d4cf3"/>
    <p:sldId xmlns:r="http://schemas.openxmlformats.org/officeDocument/2006/relationships" id="257" r:id="Reb206d4c3e1e4651"/>
    <p:sldId xmlns:r="http://schemas.openxmlformats.org/officeDocument/2006/relationships" id="258" r:id="Rf967189d3f0448a1"/>
    <p:sldId xmlns:r="http://schemas.openxmlformats.org/officeDocument/2006/relationships" id="259" r:id="R1de1308523ad412e"/>
    <p:sldId xmlns:r="http://schemas.openxmlformats.org/officeDocument/2006/relationships" id="260" r:id="R26c9ed7eb4444ca2"/>
    <p:sldId xmlns:r="http://schemas.openxmlformats.org/officeDocument/2006/relationships" id="261" r:id="R6334aabc96e34061"/>
    <p:sldId xmlns:r="http://schemas.openxmlformats.org/officeDocument/2006/relationships" id="262" r:id="R56aa2162d6d44cf8"/>
    <p:sldId xmlns:r="http://schemas.openxmlformats.org/officeDocument/2006/relationships" id="263" r:id="Re12f61e21d3c4a72"/>
    <p:sldId xmlns:r="http://schemas.openxmlformats.org/officeDocument/2006/relationships" id="264" r:id="R6e08fd56c4eb4b62"/>
    <p:sldId xmlns:r="http://schemas.openxmlformats.org/officeDocument/2006/relationships" id="265" r:id="Rbb642487dd094889"/>
    <p:sldId xmlns:r="http://schemas.openxmlformats.org/officeDocument/2006/relationships" id="266" r:id="R22f95b804db7437d"/>
    <p:sldId xmlns:r="http://schemas.openxmlformats.org/officeDocument/2006/relationships" id="267" r:id="Rcf511c35df7f47d0"/>
    <p:sldId xmlns:r="http://schemas.openxmlformats.org/officeDocument/2006/relationships" id="268" r:id="R34d05268c28644d1"/>
    <p:sldId xmlns:r="http://schemas.openxmlformats.org/officeDocument/2006/relationships" id="269" r:id="R7e14f61d780d4cb2"/>
    <p:sldId xmlns:r="http://schemas.openxmlformats.org/officeDocument/2006/relationships" id="270" r:id="R1726c13921584a8e"/>
    <p:sldId xmlns:r="http://schemas.openxmlformats.org/officeDocument/2006/relationships" id="271" r:id="Rf305e5ffe4984d13"/>
    <p:sldId xmlns:r="http://schemas.openxmlformats.org/officeDocument/2006/relationships" id="272" r:id="R1cf80acc62364ab0"/>
    <p:sldId xmlns:r="http://schemas.openxmlformats.org/officeDocument/2006/relationships" id="273" r:id="R6d2395fb694e41db"/>
    <p:sldId xmlns:r="http://schemas.openxmlformats.org/officeDocument/2006/relationships" id="274" r:id="R537fdbd36b3d4777"/>
    <p:sldId xmlns:r="http://schemas.openxmlformats.org/officeDocument/2006/relationships" id="275" r:id="Rf827c7544a584ff5"/>
    <p:sldId xmlns:r="http://schemas.openxmlformats.org/officeDocument/2006/relationships" id="276" r:id="R29c0838f21c440e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57ea2fe0f14fb5" /><Relationship Type="http://schemas.openxmlformats.org/officeDocument/2006/relationships/slideMaster" Target="/ppt/slideMasters/slideMaster1.xml" Id="Red785801aef749b8" /><Relationship Type="http://schemas.openxmlformats.org/officeDocument/2006/relationships/notesMaster" Target="/ppt/notesMasters/notesMaster1.xml" Id="R21290ecb95524417" /><Relationship Type="http://schemas.openxmlformats.org/officeDocument/2006/relationships/presProps" Target="/ppt/presProps.xml" Id="Rbdb6a28fe4c54031" /><Relationship Type="http://schemas.openxmlformats.org/officeDocument/2006/relationships/tableStyles" Target="/ppt/tableStyles.xml" Id="R7382ee9ce7064a94" /><Relationship Type="http://schemas.openxmlformats.org/officeDocument/2006/relationships/slide" Target="/ppt/slides/slide1.xml" Id="R699c8b3d027d4cf3" /><Relationship Type="http://schemas.openxmlformats.org/officeDocument/2006/relationships/slide" Target="/ppt/slides/slide2.xml" Id="Reb206d4c3e1e4651" /><Relationship Type="http://schemas.openxmlformats.org/officeDocument/2006/relationships/slide" Target="/ppt/slides/slide3.xml" Id="Rf967189d3f0448a1" /><Relationship Type="http://schemas.openxmlformats.org/officeDocument/2006/relationships/slide" Target="/ppt/slides/slide4.xml" Id="R1de1308523ad412e" /><Relationship Type="http://schemas.openxmlformats.org/officeDocument/2006/relationships/slide" Target="/ppt/slides/slide5.xml" Id="R26c9ed7eb4444ca2" /><Relationship Type="http://schemas.openxmlformats.org/officeDocument/2006/relationships/slide" Target="/ppt/slides/slide6.xml" Id="R6334aabc96e34061" /><Relationship Type="http://schemas.openxmlformats.org/officeDocument/2006/relationships/slide" Target="/ppt/slides/slide7.xml" Id="R56aa2162d6d44cf8" /><Relationship Type="http://schemas.openxmlformats.org/officeDocument/2006/relationships/slide" Target="/ppt/slides/slide8.xml" Id="Re12f61e21d3c4a72" /><Relationship Type="http://schemas.openxmlformats.org/officeDocument/2006/relationships/slide" Target="/ppt/slides/slide9.xml" Id="R6e08fd56c4eb4b62" /><Relationship Type="http://schemas.openxmlformats.org/officeDocument/2006/relationships/slide" Target="/ppt/slides/slide10.xml" Id="Rbb642487dd094889" /><Relationship Type="http://schemas.openxmlformats.org/officeDocument/2006/relationships/slide" Target="/ppt/slides/slide11.xml" Id="R22f95b804db7437d" /><Relationship Type="http://schemas.openxmlformats.org/officeDocument/2006/relationships/slide" Target="/ppt/slides/slide12.xml" Id="Rcf511c35df7f47d0" /><Relationship Type="http://schemas.openxmlformats.org/officeDocument/2006/relationships/slide" Target="/ppt/slides/slide13.xml" Id="R34d05268c28644d1" /><Relationship Type="http://schemas.openxmlformats.org/officeDocument/2006/relationships/slide" Target="/ppt/slides/slide14.xml" Id="R7e14f61d780d4cb2" /><Relationship Type="http://schemas.openxmlformats.org/officeDocument/2006/relationships/slide" Target="/ppt/slides/slide15.xml" Id="R1726c13921584a8e" /><Relationship Type="http://schemas.openxmlformats.org/officeDocument/2006/relationships/slide" Target="/ppt/slides/slide16.xml" Id="Rf305e5ffe4984d13" /><Relationship Type="http://schemas.openxmlformats.org/officeDocument/2006/relationships/slide" Target="/ppt/slides/slide17.xml" Id="R1cf80acc62364ab0" /><Relationship Type="http://schemas.openxmlformats.org/officeDocument/2006/relationships/slide" Target="/ppt/slides/slide18.xml" Id="R6d2395fb694e41db" /><Relationship Type="http://schemas.openxmlformats.org/officeDocument/2006/relationships/slide" Target="/ppt/slides/slide19.xml" Id="R537fdbd36b3d4777" /><Relationship Type="http://schemas.openxmlformats.org/officeDocument/2006/relationships/slide" Target="/ppt/slides/slide20.xml" Id="Rf827c7544a584ff5" /><Relationship Type="http://schemas.openxmlformats.org/officeDocument/2006/relationships/slide" Target="/ppt/slides/slide21.xml" Id="R29c0838f21c440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0ae58f8c1c4d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ca3685976d48cb" /><Relationship Type="http://schemas.openxmlformats.org/officeDocument/2006/relationships/notesMaster" Target="/ppt/notesMasters/notesMaster1.xml" Id="R8195e54cc6d840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f4e6aafe88472e" /><Relationship Type="http://schemas.openxmlformats.org/officeDocument/2006/relationships/notesMaster" Target="/ppt/notesMasters/notesMaster1.xml" Id="R7dba5288da6441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8abd818d55430a" /><Relationship Type="http://schemas.openxmlformats.org/officeDocument/2006/relationships/notesMaster" Target="/ppt/notesMasters/notesMaster1.xml" Id="Rb06ab8e9ed1f40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1f40059dcd45ee" /><Relationship Type="http://schemas.openxmlformats.org/officeDocument/2006/relationships/notesMaster" Target="/ppt/notesMasters/notesMaster1.xml" Id="R3e6388cab3bd47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d7c374245a4d1d" /><Relationship Type="http://schemas.openxmlformats.org/officeDocument/2006/relationships/notesMaster" Target="/ppt/notesMasters/notesMaster1.xml" Id="R1186305a3e694a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3bffe3342e412c" /><Relationship Type="http://schemas.openxmlformats.org/officeDocument/2006/relationships/notesMaster" Target="/ppt/notesMasters/notesMaster1.xml" Id="R790dbc79448544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bf6fead9fb4ab2" /><Relationship Type="http://schemas.openxmlformats.org/officeDocument/2006/relationships/notesMaster" Target="/ppt/notesMasters/notesMaster1.xml" Id="R7f35e952881848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17f3e157304c89" /><Relationship Type="http://schemas.openxmlformats.org/officeDocument/2006/relationships/notesMaster" Target="/ppt/notesMasters/notesMaster1.xml" Id="Rd4a09e77d39143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ffb0e9d63b4085" /><Relationship Type="http://schemas.openxmlformats.org/officeDocument/2006/relationships/notesMaster" Target="/ppt/notesMasters/notesMaster1.xml" Id="R934aafd2797146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c105525bbe47a3" /><Relationship Type="http://schemas.openxmlformats.org/officeDocument/2006/relationships/notesMaster" Target="/ppt/notesMasters/notesMaster1.xml" Id="Rb18b598609ec4f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e6960987f94d25" /><Relationship Type="http://schemas.openxmlformats.org/officeDocument/2006/relationships/notesMaster" Target="/ppt/notesMasters/notesMaster1.xml" Id="R74916d6b862a44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c4d34954d44dc8" /><Relationship Type="http://schemas.openxmlformats.org/officeDocument/2006/relationships/notesMaster" Target="/ppt/notesMasters/notesMaster1.xml" Id="R558ecee5089d42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a100e5852747fe" /><Relationship Type="http://schemas.openxmlformats.org/officeDocument/2006/relationships/notesMaster" Target="/ppt/notesMasters/notesMaster1.xml" Id="R37464ac1c03242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8ef6ff19924534" /><Relationship Type="http://schemas.openxmlformats.org/officeDocument/2006/relationships/notesMaster" Target="/ppt/notesMasters/notesMaster1.xml" Id="R95a1f0b6be804f7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6aded83e53437a" /><Relationship Type="http://schemas.openxmlformats.org/officeDocument/2006/relationships/notesMaster" Target="/ppt/notesMasters/notesMaster1.xml" Id="R4d592c7a17aa4d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5b12241f9d8415a" /><Relationship Type="http://schemas.openxmlformats.org/officeDocument/2006/relationships/notesMaster" Target="/ppt/notesMasters/notesMaster1.xml" Id="R9e8eb9db0f02485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827ec8cfcd4278" /><Relationship Type="http://schemas.openxmlformats.org/officeDocument/2006/relationships/notesMaster" Target="/ppt/notesMasters/notesMaster1.xml" Id="R00a0099d1cff4ce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5471d76228f4b1e" /><Relationship Type="http://schemas.openxmlformats.org/officeDocument/2006/relationships/notesMaster" Target="/ppt/notesMasters/notesMaster1.xml" Id="R9e16359aa847406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3dd5781dfc4af2" /><Relationship Type="http://schemas.openxmlformats.org/officeDocument/2006/relationships/notesMaster" Target="/ppt/notesMasters/notesMaster1.xml" Id="R475e37a0e605457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d04552702942f4" /><Relationship Type="http://schemas.openxmlformats.org/officeDocument/2006/relationships/notesMaster" Target="/ppt/notesMasters/notesMaster1.xml" Id="Rde46fc12596f4c0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7ce502c4649410f" /><Relationship Type="http://schemas.openxmlformats.org/officeDocument/2006/relationships/notesMaster" Target="/ppt/notesMasters/notesMaster1.xml" Id="Rc5661a66e4814f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00cf58a7548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e45ac90cf14312" /><Relationship Type="http://schemas.openxmlformats.org/officeDocument/2006/relationships/slideLayout" Target="/ppt/slideLayouts/slideLayout1.xml" Id="R7dcb3c23205d42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cb3c23205d42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bc2362be04853" /><Relationship Type="http://schemas.openxmlformats.org/officeDocument/2006/relationships/notesSlide" Target="/ppt/notesSlides/notesSlide1.xml" Id="R394805e7a9ed4d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1483d5d00439a" /><Relationship Type="http://schemas.openxmlformats.org/officeDocument/2006/relationships/notesSlide" Target="/ppt/notesSlides/notesSlide2.xml" Id="R147345ecc49f4c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997b263cd49f7" /><Relationship Type="http://schemas.openxmlformats.org/officeDocument/2006/relationships/notesSlide" Target="/ppt/notesSlides/notesSlide3.xml" Id="R7adb2e69c71647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eb2007fc24404" /><Relationship Type="http://schemas.openxmlformats.org/officeDocument/2006/relationships/chart" Target="/ppt/slides/charts/chart1.xml" Id="Rca0730c1becf41cc" /><Relationship Type="http://schemas.openxmlformats.org/officeDocument/2006/relationships/notesSlide" Target="/ppt/notesSlides/notesSlide4.xml" Id="Ra87b7fddca4846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47cea205f472b" /><Relationship Type="http://schemas.openxmlformats.org/officeDocument/2006/relationships/notesSlide" Target="/ppt/notesSlides/notesSlide5.xml" Id="R80373bc795674f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a176c35a841b3" /><Relationship Type="http://schemas.openxmlformats.org/officeDocument/2006/relationships/image" Target="/ppt/media/image.png" Id="Rcf408e06cc6a4cec" /><Relationship Type="http://schemas.openxmlformats.org/officeDocument/2006/relationships/image" Target="/ppt/media/image2.png" Id="R83c0b0116ae540af" /><Relationship Type="http://schemas.openxmlformats.org/officeDocument/2006/relationships/notesSlide" Target="/ppt/notesSlides/notesSlide6.xml" Id="R253d39a904fb4e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2edad08c8482e" /><Relationship Type="http://schemas.openxmlformats.org/officeDocument/2006/relationships/notesSlide" Target="/ppt/notesSlides/notesSlide7.xml" Id="Rb552bf9381c845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cada9f2104b1a" /><Relationship Type="http://schemas.openxmlformats.org/officeDocument/2006/relationships/chart" Target="/ppt/slides/charts/chart2.xml" Id="R6a226c59642444e8" /><Relationship Type="http://schemas.openxmlformats.org/officeDocument/2006/relationships/chart" Target="/ppt/slides/charts/chart3.xml" Id="Rb836da25fb3d421e" /><Relationship Type="http://schemas.openxmlformats.org/officeDocument/2006/relationships/notesSlide" Target="/ppt/notesSlides/notesSlide8.xml" Id="Rcdd9a1f637f748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aeb4fdf3b4caf" /><Relationship Type="http://schemas.openxmlformats.org/officeDocument/2006/relationships/chart" Target="/ppt/slides/charts/chart4.xml" Id="Re1af73668a964891" /><Relationship Type="http://schemas.openxmlformats.org/officeDocument/2006/relationships/chart" Target="/ppt/slides/charts/chart5.xml" Id="R9e176ec11f32412c" /><Relationship Type="http://schemas.openxmlformats.org/officeDocument/2006/relationships/notesSlide" Target="/ppt/notesSlides/notesSlide9.xml" Id="R10467e137cfd4c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a6c53e0324403" /><Relationship Type="http://schemas.openxmlformats.org/officeDocument/2006/relationships/chart" Target="/ppt/slides/charts/chart6.xml" Id="R1d44d0226d964012" /><Relationship Type="http://schemas.openxmlformats.org/officeDocument/2006/relationships/chart" Target="/ppt/slides/charts/chart7.xml" Id="R41307ee23e4c4ab1" /><Relationship Type="http://schemas.openxmlformats.org/officeDocument/2006/relationships/notesSlide" Target="/ppt/notesSlides/notesSlide10.xml" Id="R782358f961c24b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4bbe89f1c48b8" /><Relationship Type="http://schemas.openxmlformats.org/officeDocument/2006/relationships/notesSlide" Target="/ppt/notesSlides/notesSlide11.xml" Id="Rfe86301254de44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b7a4815d84f1c" /><Relationship Type="http://schemas.openxmlformats.org/officeDocument/2006/relationships/notesSlide" Target="/ppt/notesSlides/notesSlide12.xml" Id="Rd0da6eb958cf4f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bf5d4448044ba" /><Relationship Type="http://schemas.openxmlformats.org/officeDocument/2006/relationships/notesSlide" Target="/ppt/notesSlides/notesSlide13.xml" Id="Re8c935e942304d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c8fdd6f574111" /><Relationship Type="http://schemas.openxmlformats.org/officeDocument/2006/relationships/notesSlide" Target="/ppt/notesSlides/notesSlide14.xml" Id="R20a38b8681704a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55bb609ea480a" /><Relationship Type="http://schemas.openxmlformats.org/officeDocument/2006/relationships/image" Target="/ppt/media/image3.png" Id="R26952765d8964500" /><Relationship Type="http://schemas.openxmlformats.org/officeDocument/2006/relationships/image" Target="/ppt/media/image4.png" Id="Rb324c3cc8d4c4584" /><Relationship Type="http://schemas.openxmlformats.org/officeDocument/2006/relationships/image" Target="/ppt/media/image5.png" Id="R3d39c0f41b854b34" /><Relationship Type="http://schemas.openxmlformats.org/officeDocument/2006/relationships/notesSlide" Target="/ppt/notesSlides/notesSlide15.xml" Id="R6aa23fb17dde47f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b31af30094d87" /><Relationship Type="http://schemas.openxmlformats.org/officeDocument/2006/relationships/chart" Target="/ppt/slides/charts/chart8.xml" Id="R8cdce073f37f4878" /><Relationship Type="http://schemas.openxmlformats.org/officeDocument/2006/relationships/notesSlide" Target="/ppt/notesSlides/notesSlide16.xml" Id="R0ba06c074ad447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00ec94d414843" /><Relationship Type="http://schemas.openxmlformats.org/officeDocument/2006/relationships/chart" Target="/ppt/slides/charts/chart9.xml" Id="R260a25664a60441b" /><Relationship Type="http://schemas.openxmlformats.org/officeDocument/2006/relationships/notesSlide" Target="/ppt/notesSlides/notesSlide17.xml" Id="R8936c9d7933f4c1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3587097f74c2e" /><Relationship Type="http://schemas.openxmlformats.org/officeDocument/2006/relationships/chart" Target="/ppt/slides/charts/chart10.xml" Id="R3da1e7eb6c6e457f" /><Relationship Type="http://schemas.openxmlformats.org/officeDocument/2006/relationships/notesSlide" Target="/ppt/notesSlides/notesSlide18.xml" Id="R94853e7963cb4e1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76d6ed1694934" /><Relationship Type="http://schemas.openxmlformats.org/officeDocument/2006/relationships/chart" Target="/ppt/slides/charts/chart11.xml" Id="R21080ad70b3f4585" /><Relationship Type="http://schemas.openxmlformats.org/officeDocument/2006/relationships/notesSlide" Target="/ppt/notesSlides/notesSlide19.xml" Id="R61ee59db34804b6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ee91272024061" /><Relationship Type="http://schemas.openxmlformats.org/officeDocument/2006/relationships/notesSlide" Target="/ppt/notesSlides/notesSlide20.xml" Id="R57937b27558846f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c64ee271647a8" /><Relationship Type="http://schemas.openxmlformats.org/officeDocument/2006/relationships/notesSlide" Target="/ppt/notesSlides/notesSlide21.xml" Id="R18e90e9a1db5471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RMSE MW</c:v>
          </c:tx>
          <c:spPr>
            <a:solidFill xmlns:a="http://schemas.openxmlformats.org/drawingml/2006/main">
              <a:srgbClr val="0E7C66"/>
            </a:solidFill>
          </c:spPr>
          <c:dPt>
            <c:idx val="0"/>
            <c:spPr>
              <a:solidFill xmlns:a="http://schemas.openxmlformats.org/drawingml/2006/main">
                <a:srgbClr val="0E7C66"/>
              </a:solidFill>
            </c:spPr>
          </c:dPt>
          <c:dPt>
            <c:idx val="1"/>
            <c:spPr>
              <a:solidFill xmlns:a="http://schemas.openxmlformats.org/drawingml/2006/main">
                <a:srgbClr val="9AA6A1"/>
              </a:solidFill>
            </c:spPr>
          </c:dPt>
          <c:dPt>
            <c:idx val="2"/>
            <c:spPr>
              <a:solidFill xmlns:a="http://schemas.openxmlformats.org/drawingml/2006/main">
                <a:srgbClr val="9AA6A1"/>
              </a:solidFill>
            </c:spPr>
          </c:dPt>
          <c:dPt>
            <c:idx val="3"/>
            <c:spPr>
              <a:solidFill xmlns:a="http://schemas.openxmlformats.org/drawingml/2006/main">
                <a:srgbClr val="9AA6A1"/>
              </a:solidFill>
            </c:spPr>
          </c:dPt>
          <c:dPt>
            <c:idx val="4"/>
            <c:spPr>
              <a:solidFill xmlns:a="http://schemas.openxmlformats.org/drawingml/2006/main">
                <a:srgbClr val="9AA6A1"/>
              </a:solidFill>
            </c:spPr>
          </c:dPt>
          <c:dPt>
            <c:idx val="5"/>
            <c:spPr>
              <a:solidFill xmlns:a="http://schemas.openxmlformats.org/drawingml/2006/main">
                <a:srgbClr val="9AA6A1"/>
              </a:solidFill>
            </c:spPr>
          </c:dPt>
          <c:cat>
            <c:strLit>
              <c:ptCount val="6"/>
              <c:pt idx="0">
                <c:v>causal ridge</c:v>
              </c:pt>
              <c:pt idx="1">
                <c:v>lag-1</c:v>
              </c:pt>
              <c:pt idx="2">
                <c:v>speed curve</c:v>
              </c:pt>
              <c:pt idx="3">
                <c:v>RNN</c:v>
              </c:pt>
              <c:pt idx="4">
                <c:v>physics</c:v>
              </c:pt>
              <c:pt idx="5">
                <c:v>prob.</c:v>
              </c:pt>
            </c:strLit>
          </c:cat>
          <c:val>
            <c:numLit>
              <c:formatCode>General</c:formatCode>
              <c:ptCount val="6"/>
              <c:pt idx="0">
                <c:v>21.24</c:v>
              </c:pt>
              <c:pt idx="1">
                <c:v>23.6</c:v>
              </c:pt>
              <c:pt idx="2">
                <c:v>41.86</c:v>
              </c:pt>
              <c:pt idx="3">
                <c:v>46.21</c:v>
              </c:pt>
              <c:pt idx="4">
                <c:v>50.85</c:v>
              </c:pt>
              <c:pt idx="5">
                <c:v>71.69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231F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COVE gain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4"/>
              <c:pt idx="0">
                <c:v>24h</c:v>
              </c:pt>
              <c:pt idx="1">
                <c:v>48h</c:v>
              </c:pt>
              <c:pt idx="2">
                <c:v>72h</c:v>
              </c:pt>
              <c:pt idx="3">
                <c:v>168h</c:v>
              </c:pt>
            </c:strLit>
          </c:cat>
          <c:val>
            <c:numLit>
              <c:formatCode>0.00</c:formatCode>
              <c:ptCount val="4"/>
              <c:pt idx="0">
                <c:v>3.31</c:v>
              </c:pt>
              <c:pt idx="1">
                <c:v>6.25</c:v>
              </c:pt>
              <c:pt idx="2">
                <c:v>6.06</c:v>
              </c:pt>
              <c:pt idx="3">
                <c:v>5.44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0231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E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C6B66"/>
                    </a:solidFill>
                  </a:rPr>
                  <a:t>COVE gain vs baseload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C6B66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C6B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COVE</c:v>
          </c:tx>
          <c:spPr>
            <a:ln xmlns:a="http://schemas.openxmlformats.org/drawingml/2006/main" w="28575">
              <a:solidFill>
                <a:srgbClr val="0E7C66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4"/>
              <c:pt idx="0">
                <c:v>24h</c:v>
              </c:pt>
              <c:pt idx="1">
                <c:v>48h</c:v>
              </c:pt>
              <c:pt idx="2">
                <c:v>72h</c:v>
              </c:pt>
              <c:pt idx="3">
                <c:v>168h</c:v>
              </c:pt>
            </c:strLit>
          </c:cat>
          <c:val>
            <c:numLit>
              <c:formatCode>0.000</c:formatCode>
              <c:ptCount val="4"/>
              <c:pt idx="0">
                <c:v>7.033181</c:v>
              </c:pt>
              <c:pt idx="1">
                <c:v>6.818936</c:v>
              </c:pt>
              <c:pt idx="2">
                <c:v>6.833112</c:v>
              </c:pt>
              <c:pt idx="3">
                <c:v>6.878207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0231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0231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.1"/>
          <c:min val="6.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E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C6B66"/>
                    </a:solidFill>
                  </a:rPr>
                  <a:t>COVE (lower is better)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C6B66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C6B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COVE gain</c:v>
          </c:tx>
          <c:spPr>
            <a:solidFill xmlns:a="http://schemas.openxmlformats.org/drawingml/2006/main">
              <a:srgbClr val="F97316"/>
            </a:solidFill>
          </c:spPr>
          <c:cat>
            <c:numLit>
              <c:formatCode>General</c:formatCode>
              <c:ptCount val="5"/>
              <c:pt idx="0">
                <c:v>1</c:v>
              </c:pt>
              <c:pt idx="1">
                <c:v>3</c:v>
              </c:pt>
              <c:pt idx="2">
                <c:v>5</c:v>
              </c:pt>
              <c:pt idx="3">
                <c:v>7</c:v>
              </c:pt>
              <c:pt idx="4">
                <c:v>10</c:v>
              </c:pt>
            </c:numLit>
          </c:cat>
          <c:val>
            <c:numLit>
              <c:formatCode>0.00</c:formatCode>
              <c:ptCount val="5"/>
              <c:pt idx="0">
                <c:v>19.4</c:v>
              </c:pt>
              <c:pt idx="1">
                <c:v>23.19</c:v>
              </c:pt>
              <c:pt idx="2">
                <c:v>23.01</c:v>
              </c:pt>
              <c:pt idx="3">
                <c:v>23.03</c:v>
              </c:pt>
              <c:pt idx="4">
                <c:v>20.47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0231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E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C6B66"/>
                    </a:solidFill>
                  </a:rPr>
                  <a:t>COVE reduction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C6B66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C6B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Scenario tradeoff</c:v>
          </c:tx>
          <c:spPr>
            <a:solidFill xmlns:a="http://schemas.openxmlformats.org/drawingml/2006/main">
              <a:srgbClr val="0E7C66"/>
            </a:solidFill>
            <a:ln xmlns:a="http://schemas.openxmlformats.org/drawingml/2006/main" w="19050">
              <a:solidFill>
                <a:srgbClr val="0E7C66"/>
              </a:solidFill>
              <a:prstDash val="solid"/>
            </a:ln>
          </c:spPr>
          <c:marker>
            <c:symbol val="circle"/>
            <c:size val="8"/>
          </c:marker>
          <c:xVal>
            <c:numLit>
              <c:formatCode>General</c:formatCode>
              <c:ptCount val="5"/>
              <c:pt idx="0">
                <c:v>24.07</c:v>
              </c:pt>
              <c:pt idx="1">
                <c:v>30.19</c:v>
              </c:pt>
              <c:pt idx="2">
                <c:v>29.88</c:v>
              </c:pt>
              <c:pt idx="3">
                <c:v>29.92</c:v>
              </c:pt>
              <c:pt idx="4">
                <c:v>25.74</c:v>
              </c:pt>
            </c:numLit>
          </c:xVal>
          <c:yVal>
            <c:numLit>
              <c:formatCode>General</c:formatCode>
              <c:ptCount val="5"/>
              <c:pt idx="0">
                <c:v>19.4</c:v>
              </c:pt>
              <c:pt idx="1">
                <c:v>23.19</c:v>
              </c:pt>
              <c:pt idx="2">
                <c:v>23.01</c:v>
              </c:pt>
              <c:pt idx="3">
                <c:v>23.03</c:v>
              </c:pt>
              <c:pt idx="4">
                <c:v>20.47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E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C6B66"/>
                    </a:solidFill>
                  </a:rPr>
                  <a:t>COVE reduction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C6B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C6B6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7EE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C6B66"/>
                    </a:solidFill>
                  </a:rPr>
                  <a:t>Revenue gain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C6B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C6B66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Oracle gain</c:v>
          </c:tx>
          <c:spPr>
            <a:solidFill xmlns:a="http://schemas.openxmlformats.org/drawingml/2006/main">
              <a:srgbClr val="DC2626"/>
            </a:solidFill>
          </c:spPr>
          <c:cat>
            <c:strLit>
              <c:ptCount val="4"/>
              <c:pt idx="0">
                <c:v>24h</c:v>
              </c:pt>
              <c:pt idx="1">
                <c:v>48h</c:v>
              </c:pt>
              <c:pt idx="2">
                <c:v>72h</c:v>
              </c:pt>
              <c:pt idx="3">
                <c:v>168h</c:v>
              </c:pt>
            </c:strLit>
          </c:cat>
          <c:val>
            <c:numLit>
              <c:formatCode>0.00</c:formatCode>
              <c:ptCount val="4"/>
              <c:pt idx="0">
                <c:v>28.3</c:v>
              </c:pt>
              <c:pt idx="1">
                <c:v>31.32</c:v>
              </c:pt>
              <c:pt idx="2">
                <c:v>32.35</c:v>
              </c:pt>
              <c:pt idx="3">
                <c:v>32.83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0231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E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C6B66"/>
                    </a:solidFill>
                  </a:rPr>
                  <a:t>COVE gain vs baseload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C6B66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C6B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Oracle COVE</c:v>
          </c:tx>
          <c:spPr>
            <a:ln xmlns:a="http://schemas.openxmlformats.org/drawingml/2006/main" w="28575">
              <a:solidFill>
                <a:srgbClr val="DC2626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4"/>
              <c:pt idx="0">
                <c:v>24h</c:v>
              </c:pt>
              <c:pt idx="1">
                <c:v>48h</c:v>
              </c:pt>
              <c:pt idx="2">
                <c:v>72h</c:v>
              </c:pt>
              <c:pt idx="3">
                <c:v>168h</c:v>
              </c:pt>
            </c:strLit>
          </c:cat>
          <c:val>
            <c:numLit>
              <c:formatCode>0.000</c:formatCode>
              <c:ptCount val="4"/>
              <c:pt idx="0">
                <c:v>5.214904</c:v>
              </c:pt>
              <c:pt idx="1">
                <c:v>4.995396</c:v>
              </c:pt>
              <c:pt idx="2">
                <c:v>4.920584</c:v>
              </c:pt>
              <c:pt idx="3">
                <c:v>4.885438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0231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0231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.35"/>
          <c:min val="4.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E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C6B66"/>
                    </a:solidFill>
                  </a:rPr>
                  <a:t>COVE (lower is better)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C6B66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C6B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RMSE MW</c:v>
          </c:tx>
          <c:spPr>
            <a:solidFill xmlns:a="http://schemas.openxmlformats.org/drawingml/2006/main">
              <a:srgbClr val="0E7C66"/>
            </a:solidFill>
          </c:spPr>
          <c:dPt>
            <c:idx val="0"/>
            <c:spPr>
              <a:solidFill xmlns:a="http://schemas.openxmlformats.org/drawingml/2006/main">
                <a:srgbClr val="0E7C66"/>
              </a:solidFill>
            </c:spPr>
          </c:dPt>
          <c:dPt>
            <c:idx val="1"/>
            <c:spPr>
              <a:solidFill xmlns:a="http://schemas.openxmlformats.org/drawingml/2006/main">
                <a:srgbClr val="9AA6A1"/>
              </a:solidFill>
            </c:spPr>
          </c:dPt>
          <c:dPt>
            <c:idx val="2"/>
            <c:spPr>
              <a:solidFill xmlns:a="http://schemas.openxmlformats.org/drawingml/2006/main">
                <a:srgbClr val="9AA6A1"/>
              </a:solidFill>
            </c:spPr>
          </c:dPt>
          <c:dPt>
            <c:idx val="3"/>
            <c:spPr>
              <a:solidFill xmlns:a="http://schemas.openxmlformats.org/drawingml/2006/main">
                <a:srgbClr val="9AA6A1"/>
              </a:solidFill>
            </c:spPr>
          </c:dPt>
          <c:dPt>
            <c:idx val="4"/>
            <c:spPr>
              <a:solidFill xmlns:a="http://schemas.openxmlformats.org/drawingml/2006/main">
                <a:srgbClr val="9AA6A1"/>
              </a:solidFill>
            </c:spPr>
          </c:dPt>
          <c:dPt>
            <c:idx val="5"/>
            <c:spPr>
              <a:solidFill xmlns:a="http://schemas.openxmlformats.org/drawingml/2006/main">
                <a:srgbClr val="9AA6A1"/>
              </a:solidFill>
            </c:spPr>
          </c:dPt>
          <c:cat>
            <c:strLit>
              <c:ptCount val="6"/>
              <c:pt idx="0">
                <c:v>causal ridge</c:v>
              </c:pt>
              <c:pt idx="1">
                <c:v>lag-1</c:v>
              </c:pt>
              <c:pt idx="2">
                <c:v>speed curve</c:v>
              </c:pt>
              <c:pt idx="3">
                <c:v>RNN</c:v>
              </c:pt>
              <c:pt idx="4">
                <c:v>physics</c:v>
              </c:pt>
              <c:pt idx="5">
                <c:v>prob.</c:v>
              </c:pt>
            </c:strLit>
          </c:cat>
          <c:val>
            <c:numLit>
              <c:formatCode>General</c:formatCode>
              <c:ptCount val="6"/>
              <c:pt idx="0">
                <c:v>21.24</c:v>
              </c:pt>
              <c:pt idx="1">
                <c:v>23.6</c:v>
              </c:pt>
              <c:pt idx="2">
                <c:v>41.86</c:v>
              </c:pt>
              <c:pt idx="3">
                <c:v>46.21</c:v>
              </c:pt>
              <c:pt idx="4">
                <c:v>50.85</c:v>
              </c:pt>
              <c:pt idx="5">
                <c:v>71.69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231F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COVE improvement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4"/>
              <c:pt idx="0">
                <c:v>24h</c:v>
              </c:pt>
              <c:pt idx="1">
                <c:v>48h</c:v>
              </c:pt>
              <c:pt idx="2">
                <c:v>72h</c:v>
              </c:pt>
              <c:pt idx="3">
                <c:v>168h</c:v>
              </c:pt>
            </c:strLit>
          </c:cat>
          <c:val>
            <c:numLit>
              <c:formatCode>0.00</c:formatCode>
              <c:ptCount val="4"/>
              <c:pt idx="0">
                <c:v>3.31</c:v>
              </c:pt>
              <c:pt idx="1">
                <c:v>6.25</c:v>
              </c:pt>
              <c:pt idx="2">
                <c:v>6.06</c:v>
              </c:pt>
              <c:pt idx="3">
                <c:v>5.44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0231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E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C6B66"/>
                    </a:solidFill>
                  </a:rPr>
                  <a:t>COVE improvement vs baseload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C6B66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C6B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COVE reduction</c:v>
          </c:tx>
          <c:spPr>
            <a:solidFill xmlns:a="http://schemas.openxmlformats.org/drawingml/2006/main">
              <a:srgbClr val="F97316"/>
            </a:solidFill>
          </c:spPr>
          <c:cat>
            <c:numLit>
              <c:formatCode>General</c:formatCode>
              <c:ptCount val="5"/>
              <c:pt idx="0">
                <c:v>1</c:v>
              </c:pt>
              <c:pt idx="1">
                <c:v>3</c:v>
              </c:pt>
              <c:pt idx="2">
                <c:v>5</c:v>
              </c:pt>
              <c:pt idx="3">
                <c:v>7</c:v>
              </c:pt>
              <c:pt idx="4">
                <c:v>10</c:v>
              </c:pt>
            </c:numLit>
          </c:cat>
          <c:val>
            <c:numLit>
              <c:formatCode>0.00</c:formatCode>
              <c:ptCount val="5"/>
              <c:pt idx="0">
                <c:v>19.4</c:v>
              </c:pt>
              <c:pt idx="1">
                <c:v>23.19</c:v>
              </c:pt>
              <c:pt idx="2">
                <c:v>23.01</c:v>
              </c:pt>
              <c:pt idx="3">
                <c:v>23.03</c:v>
              </c:pt>
              <c:pt idx="4">
                <c:v>20.47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0231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E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C6B66"/>
                    </a:solidFill>
                  </a:rPr>
                  <a:t>COVE reduction vs baseload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C6B66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C6B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Oracle COVE improvement</c:v>
          </c:tx>
          <c:spPr>
            <a:solidFill xmlns:a="http://schemas.openxmlformats.org/drawingml/2006/main">
              <a:srgbClr val="DC2626"/>
            </a:solidFill>
          </c:spPr>
          <c:cat>
            <c:strLit>
              <c:ptCount val="4"/>
              <c:pt idx="0">
                <c:v>24h</c:v>
              </c:pt>
              <c:pt idx="1">
                <c:v>48h</c:v>
              </c:pt>
              <c:pt idx="2">
                <c:v>72h</c:v>
              </c:pt>
              <c:pt idx="3">
                <c:v>168h</c:v>
              </c:pt>
            </c:strLit>
          </c:cat>
          <c:val>
            <c:numLit>
              <c:formatCode>0.00</c:formatCode>
              <c:ptCount val="4"/>
              <c:pt idx="0">
                <c:v>28.3</c:v>
              </c:pt>
              <c:pt idx="1">
                <c:v>31.32</c:v>
              </c:pt>
              <c:pt idx="2">
                <c:v>32.35</c:v>
              </c:pt>
              <c:pt idx="3">
                <c:v>32.83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0231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E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C6B66"/>
                    </a:solidFill>
                  </a:rPr>
                  <a:t>COVE improvement vs baseload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C6B66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C6B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63AE7A-9680-4CF4-891F-715605A3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6AC1F-EF8F-410A-8B1A-1841CCB1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F626C-A2A5-49B9-9203-3E7279A9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Forecast-Aware Dispatch for Hybrid Wind Storage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21436-5536-4475-BD4C-864A1AA4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DE7"/>
                </a:solidFill>
              </a:defRPr>
            </a:pPr>
            <a:r>
              <a:rPr sz="1650" b="0">
                <a:solidFill>
                  <a:srgbClr val="D7EDE7"/>
                </a:solidFill>
              </a:rPr>
              <a:t>A clean research ladder: forecast selection -&gt; rolling-horizon Gurobi -&gt; uncertainty scenarios -&gt; oracle ceiling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8927C-B643-410D-BD5A-8344048D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C6B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3CC3E-7629-4C8C-8579-E225C06F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B0DD3-C4A0-4C3D-8809-A57583E9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B66"/>
                </a:solidFill>
              </a:defRPr>
            </a:pPr>
            <a:r>
              <a:rPr sz="1125" b="1">
                <a:solidFill>
                  <a:srgbClr val="5C6B66"/>
                </a:solidFill>
              </a:rPr>
              <a:t>BASELOAD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525EF-C6A6-4561-BB69-61615A2F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0.00% COVE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33682-024F-40B7-B5F0-FE34974D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95675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C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03A99-7267-4B98-BF1C-9ADDE010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43250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B19EF-B7F4-41D3-9E06-B0F5FC81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432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0C6D8-6E18-4BFC-BDCA-2833BD0A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7185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FORECAST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4BAAE-DA1E-45B3-A934-EC3DEEC9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6576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21.24 MW RMSE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79790-1D03-4FFD-AA53-78A99F86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495675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A672B-A857-4874-B2BC-2B5416EA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43250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A484F-F4FB-4B72-AB15-F9FC3CD1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432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8F5B9-B9DB-4CAA-8360-24D86403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7185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66"/>
                </a:solidFill>
              </a:defRPr>
            </a:pPr>
            <a:r>
              <a:rPr sz="1125" b="1">
                <a:solidFill>
                  <a:srgbClr val="0E7C66"/>
                </a:solidFill>
              </a:rPr>
              <a:t>ROLLING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D00DC9-98BF-426E-8099-0F44D861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576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48 h | 6.25%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B779E-A8A3-4275-AD9C-405CE801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95675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2E30EC-73E6-4916-85C8-3ABE4950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43250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8FF794-A4EA-4C23-B6C3-B50FEE93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432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1C017-F57D-4DC2-9E99-42C4A214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37185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SCENARIOS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F9EC3A-7E48-461F-9168-AD0AC5F4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6576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3 scen. | 23.19%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34B91A-57DC-409E-899F-5F44F2FA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495675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B70EE6-788C-4896-9B04-3A0A759C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43250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A9D632-3B05-4594-A727-D364C3B5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432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5C0BF0-9633-43CA-B037-28B008C1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7185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2626"/>
                </a:solidFill>
              </a:defRPr>
            </a:pPr>
            <a:r>
              <a:rPr sz="1125" b="1">
                <a:solidFill>
                  <a:srgbClr val="DC2626"/>
                </a:solidFill>
              </a:rPr>
              <a:t>ORACLE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BEEF25-F3C2-4399-B9F3-DD00983D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576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168 h | 32.83%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EC02EE-D51F-4B98-8302-6D1E6F99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C9C0"/>
                </a:solidFill>
              </a:defRPr>
            </a:pPr>
            <a:r>
              <a:rPr sz="1200" b="0">
                <a:solidFill>
                  <a:srgbClr val="A9C9C0"/>
                </a:solidFill>
              </a:rPr>
              <a:t>Current repo commit: 11b5214 | prepared for discussion with Dr. Chris Qin</a:t>
            </a:r>
          </a:p>
        </p:txBody>
      </p:sp>
    </p:spTree>
    <p:extLst>
      <p:ext uri="{BB962C8B-B14F-4D97-AF65-F5344CB8AC3E}">
        <p14:creationId xmlns:p14="http://schemas.microsoft.com/office/powerpoint/2010/main" val="17952205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C59562-72D5-47FA-97CE-F03E79CE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55636-6A6A-4CB3-B6B1-89BD4182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The project is now organized as a reproducible ladder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49BE5-AE4F-45AB-A228-08732F22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Each step changes one idea and compares against baseload or the oracle ceiling.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E7A55-ACEB-4198-AC5A-888E4574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C6B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8B880-5B13-436B-AE83-9885E827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36F18-57D9-42B1-A369-03E6F296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B66"/>
                </a:solidFill>
              </a:defRPr>
            </a:pPr>
            <a:r>
              <a:rPr sz="1125" b="1">
                <a:solidFill>
                  <a:srgbClr val="5C6B66"/>
                </a:solidFill>
              </a:rPr>
              <a:t>BASELOAD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15276-23C5-41D5-BAF8-587F0654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0.00% COVE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E854B-B743-4B70-A783-5137DCD5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24075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C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225D7-F25E-4D06-99E7-300E703E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771650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AB921-21D0-4A90-AF53-4975BD18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7716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5DB19-59B4-465C-9FA3-F1B1F125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0025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FORECAST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40BD7-EDB5-4158-90B2-1773905C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2860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21.24 MW RMSE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FDC08-8C9E-42CA-BA81-B3256E13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24075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05998-7D60-4B4F-99ED-54B79569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71650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0465D-E0CD-4227-989F-480482EF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716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08E7D-9456-47DC-97CC-16234ACE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0025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66"/>
                </a:solidFill>
              </a:defRPr>
            </a:pPr>
            <a:r>
              <a:rPr sz="1125" b="1">
                <a:solidFill>
                  <a:srgbClr val="0E7C66"/>
                </a:solidFill>
              </a:rPr>
              <a:t>ROLLING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4F0F96-BD3F-4C3F-A228-7CD74D51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860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48 h | 6.25%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3EC68B-932C-420B-819C-EDC22364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24075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FE6E2-E7B3-436B-9FFD-AA4CA54A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771650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EF994D-2426-4F5C-BB7C-C7364013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7716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32AE61-FCFE-425E-9BEB-70935349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0025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SCENARIOS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944A7E-C27A-446F-88D9-F535AFF8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860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3 scen. | 23.19%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FFE55E-6291-4543-BB4F-B2E11FF0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24075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42EBE1-1E69-4537-989C-C54D12F7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71650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849C0D-D6E9-49E5-B2F2-B6AC5D1B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716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69B3C9-BDC6-470C-915F-B7CA4B9C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0025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2626"/>
                </a:solidFill>
              </a:defRPr>
            </a:pPr>
            <a:r>
              <a:rPr sz="1125" b="1">
                <a:solidFill>
                  <a:srgbClr val="DC2626"/>
                </a:solidFill>
              </a:rPr>
              <a:t>ORACLE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CFD695-E34D-4C29-95DD-06CC0A97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860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168 h | 32.83%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152C66-662F-4F11-B0F8-E4F13D0B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19087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FF5302-7A41-4879-985E-77CF02AA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04A80A-D5B7-4AE4-9AF8-24D2B14F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867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What stays fixed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80A2AC-0CE9-4C10-9A4D-5F7CCB68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8670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Wind-only charging, no grid charging, grid export cap, no simultaneous charge/discharge, chronological SoC, and realized revenue scoring.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959E40-D88C-42B8-A5D0-336878F6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86150"/>
            <a:ext cx="319087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383509-055F-4782-8587-D8F4D2A9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861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C25AE5-F95D-440D-A5E9-99D899EB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38550"/>
            <a:ext cx="2867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What changes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4F9E74-0011-446C-9930-4613B97A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81450"/>
            <a:ext cx="28670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First choose the forecast model, then choose Gurobi lookahead, then test multiple forecast futures.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4D2E47-2E86-48B1-8E54-EAED66A9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19087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B16DFA-FA64-45CD-B3FC-262A4A3E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95BBAE-0D17-4D8E-85FC-E478F1EA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38550"/>
            <a:ext cx="2867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How to read 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1CDFFF-1034-42C6-94BD-5F28C4B1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81450"/>
            <a:ext cx="28670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Baseload is the lower reference. Oracle is the perfect-future ceiling. The proposed method lives between them.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6B9B84-B74D-467D-A5B3-30B4524A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F0EB68-A9D1-482F-9393-E1CB6C32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9EF8E0-B84A-4A63-A9AC-079522AA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18449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1A5F19-FF32-4F0E-8C9F-B7DB2B57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88ECA-D102-4EEE-9724-39268B3C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Baseload is the reference every dispatch result compares against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FF6CD-6309-476D-87DA-ABE8D272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Baseload means the wind farm follows the simple reference delivery rule instead of actively optimizing storage.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7EB18-9E30-4E93-88EA-5E166839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28575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A92E7-40F7-4CC4-88F0-37D6F7DE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Wind generated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76891-A1DE-4648-8D0E-87ABD0AB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B66"/>
                </a:solidFill>
              </a:defRPr>
            </a:pPr>
            <a:r>
              <a:rPr sz="1125" b="0">
                <a:solidFill>
                  <a:srgbClr val="5C6B66"/>
                </a:solidFill>
              </a:rPr>
              <a:t>power from the wind farm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9B17E-6CC7-4F14-94C6-7ACC16DB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57400"/>
            <a:ext cx="11049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8F12D-312E-47CF-AE6C-D6E0BC50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19250"/>
            <a:ext cx="28575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ADF37-9350-4D7C-AA53-842D089B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62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7C66"/>
                </a:solidFill>
              </a:defRPr>
            </a:pPr>
            <a:r>
              <a:rPr sz="1650" b="1">
                <a:solidFill>
                  <a:srgbClr val="0E7C66"/>
                </a:solidFill>
              </a:rPr>
              <a:t>Sold to grid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806FE-0C1F-4C52-A1B0-10591F3D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05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B66"/>
                </a:solidFill>
              </a:defRPr>
            </a:pPr>
            <a:r>
              <a:rPr sz="1125" b="0">
                <a:solidFill>
                  <a:srgbClr val="5C6B66"/>
                </a:solidFill>
              </a:rPr>
              <a:t>no active lookahead strategy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4D229-309A-496C-992D-CCECC70D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57400"/>
            <a:ext cx="11049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13108-74E9-45F5-8232-BA109FAF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17145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20E21-37A7-43AB-9098-D553E575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431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63814-F24B-49BB-BD21-841CC481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05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C6B66"/>
                </a:solidFill>
              </a:defRPr>
            </a:pPr>
            <a:r>
              <a:rPr sz="1350" b="1">
                <a:solidFill>
                  <a:srgbClr val="5C6B66"/>
                </a:solidFill>
              </a:rPr>
              <a:t>0.00% gain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7F49CE-A33D-4511-A6D7-3A418912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8575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7502F-759C-4508-A234-56782CCF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7C66"/>
                </a:solidFill>
              </a:defRPr>
            </a:pPr>
            <a:r>
              <a:rPr sz="2100" b="1">
                <a:solidFill>
                  <a:srgbClr val="0E7C66"/>
                </a:solidFill>
              </a:rPr>
              <a:t>$271.87M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61DB4-6B10-483D-B382-41406CD0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66"/>
                </a:solidFill>
              </a:defRPr>
            </a:pPr>
            <a:r>
              <a:rPr sz="1050" b="0">
                <a:solidFill>
                  <a:srgbClr val="5C6B66"/>
                </a:solidFill>
              </a:rPr>
              <a:t>Scenario baseload revenue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FF882D-1742-47AF-93B2-1AF838C2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38550"/>
            <a:ext cx="28575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35A1A-C5AD-4BB0-A9C4-9382BDD8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0.215746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7D399A-6E60-4B1C-97D9-4290F828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529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66"/>
                </a:solidFill>
              </a:defRPr>
            </a:pPr>
            <a:r>
              <a:rPr sz="1050" b="0">
                <a:solidFill>
                  <a:srgbClr val="5C6B66"/>
                </a:solidFill>
              </a:rPr>
              <a:t>Scenario baseload COVE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E1364A-2581-4ECA-B43A-2C7F50C2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28575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AFEC6F-4A4B-4602-9BCD-AD78D611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909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7.273584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7E403A-AB6D-415D-90DD-A5D63438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529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66"/>
                </a:solidFill>
              </a:defRPr>
            </a:pPr>
            <a:r>
              <a:rPr sz="1050" b="0">
                <a:solidFill>
                  <a:srgbClr val="5C6B66"/>
                </a:solidFill>
              </a:rPr>
              <a:t>Deterministic baseload COVE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A58FB9-6849-4B96-B82B-2A3A048A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B66"/>
                </a:solidFill>
              </a:defRPr>
            </a:pPr>
            <a:r>
              <a:rPr sz="1500" b="0">
                <a:solidFill>
                  <a:srgbClr val="5C6B66"/>
                </a:solidFill>
              </a:rPr>
              <a:t>Why this slide matters: all percent improvements are measured relative to this reference. If dispatch beats baseload, storage was used in a more valuable way than the reference rule.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62AF3D-9DD6-447F-913C-3BB489E1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250FD2-ECCD-490A-851B-129E3A93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ABAB7C-63C5-4AF6-8CEA-F62D2AE7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84645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6CD16-5C94-4FA5-AE6D-C2AC5FCA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F67F4-50F3-436B-91C7-F7D58C4D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Step 1 chooses the forecast before dispatch begins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3471E-1838-47AF-B433-A8DB8267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This is a forecasting test only: no battery dispatch and no COVE calculation yet.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F758B-7E08-49A2-9C85-DEA32916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F"/>
                </a:solidFill>
              </a:defRPr>
            </a:pPr>
            <a:r>
              <a:rPr sz="1350" b="1">
                <a:solidFill>
                  <a:srgbClr val="10231F"/>
                </a:solidFill>
              </a:rPr>
              <a:t>Forecast RMSE comparison (lower is better)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31BA2-E13F-4266-A9AE-D092EAA7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5524500" cy="308610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933450" y="2000250"/>
          <a:ext xmlns:a="http://schemas.openxmlformats.org/drawingml/2006/main" cx="5334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0730c1becf41c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7A144-5824-4193-B6A0-D3CAD2D8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34290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555ED-86BB-49C9-A5BE-E227926B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669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Causal lag / ridge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E4CAA-CD92-45FC-99E3-E974D4AF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288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66"/>
                </a:solidFill>
              </a:defRPr>
            </a:pPr>
            <a:r>
              <a:rPr sz="1050" b="0">
                <a:solidFill>
                  <a:srgbClr val="5C6B66"/>
                </a:solidFill>
              </a:rPr>
              <a:t>Best forecast 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7066C-10E1-49A1-BA0A-F966E356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38450"/>
            <a:ext cx="34290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2E504-5044-4F17-BF61-9CC4584C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908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7C66"/>
                </a:solidFill>
              </a:defRPr>
            </a:pPr>
            <a:r>
              <a:rPr sz="2100" b="1">
                <a:solidFill>
                  <a:srgbClr val="0E7C66"/>
                </a:solidFill>
              </a:rPr>
              <a:t>21.24 MW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6587C-F7B8-4CC8-8085-09C6C289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528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66"/>
                </a:solidFill>
              </a:defRPr>
            </a:pPr>
            <a:r>
              <a:rPr sz="1050" b="0">
                <a:solidFill>
                  <a:srgbClr val="5C6B66"/>
                </a:solidFill>
              </a:rPr>
              <a:t>Best RMSE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89DD0-38D9-4E59-A7A9-5002568C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62400"/>
            <a:ext cx="34290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39190-4D11-4FCE-8D04-2C438E49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148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23.60 MW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EC8A9-4EFC-4266-BBD0-C8CC9D78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767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66"/>
                </a:solidFill>
              </a:defRPr>
            </a:pPr>
            <a:r>
              <a:rPr sz="1050" b="0">
                <a:solidFill>
                  <a:srgbClr val="5C6B66"/>
                </a:solidFill>
              </a:rPr>
              <a:t>Next best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57ECD-FB35-46A9-8BD0-554482DF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6255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66"/>
                </a:solidFill>
              </a:defRPr>
            </a:pPr>
            <a:r>
              <a:rPr sz="1275" b="0">
                <a:solidFill>
                  <a:srgbClr val="5C6B66"/>
                </a:solidFill>
              </a:rPr>
              <a:t>Why this matters: Gurobi can only optimize the information it receives. A better forecast does not make the wind farm perfect, but it gives dispatch a stronger starting point.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4CA5C-DDB1-41A4-AB41-00AB2333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422E8-88C6-456F-A746-AEB25774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2F74A-69E0-42E6-AC45-1245556B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24567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763072-B07B-4A0B-95C0-BE4DBA3A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58111-5F5C-49F2-BDF3-089EE5BB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What each forecast method means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06CB1-62F2-4D91-844B-CA121E1F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This slide explains the methods in the RMSE chart before any optimization result is discussed.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3F8DF-8A35-449D-869C-683C9DFA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54E4A-EAB7-4084-9A2A-6D9BC410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049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Forecast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24568-8C24-4E80-9D05-D420A284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192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4DF41-D631-4C6E-8B16-22B8A518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04975"/>
            <a:ext cx="803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What it means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61BAE-C4AA-4029-A1B8-E0CBFB4D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6FDFF-E7AB-4802-B723-4E09B879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causal 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09D12-0C41-4F1E-8431-11052C40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764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14B07-91F4-4D08-B8E1-370B1FAC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62175"/>
            <a:ext cx="803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a regularized regression using only past/available inputs: wind speed terms, lagged power, and calendar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F9D43-9CFA-4945-AB95-6110C437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5FEC5-AEFD-433F-8F65-0073F0E5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lag-1 persistence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85E26-17F3-4B4F-AB8B-856250D3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336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987BA-FC4F-44E5-9D4E-0AE0E1D6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19375"/>
            <a:ext cx="803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assumes the next hour looks like the most recent hour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F5D6A7-97A1-46FF-9101-B53B6CC0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A9433A-5091-478B-928A-C354DF1C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speed power curve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C3BD02-AC3A-432A-90C0-04AEB783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908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1591C-931A-404C-80C1-0D452ABD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76575"/>
            <a:ext cx="803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uses wind speed to estimate power through a simple speed-to-power relationship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B6361C-1DF5-4B0A-A7C1-629C58B3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E2C889-76C9-4BFF-BE7B-0C75F5CF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RNN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819BD9-319F-4F78-92E3-1AF3D487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480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7E1AB0-548B-4740-8B4F-921C69A5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33775"/>
            <a:ext cx="803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a neural network sequence model from the prior power-model work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C4CBA1-E6EF-4115-9090-596FFF1B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F9EF2E-303A-4507-B0AF-C5681094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909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physics model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AB35FC-8D55-4EB1-99AD-3EE165B8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052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5F3CC7-8C40-484B-AA68-0340C9B8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90975"/>
            <a:ext cx="803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a hand/physics-based power estimate from the prior model outputs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494247-E301-4323-BE4B-D894B34A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4305D6-DCBC-41E0-9E22-B9A4BE63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81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probabilistic 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3900E4-0275-46C0-8710-0EF0ECBF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624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8F8500-228E-4592-8EAC-655A3F79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48175"/>
            <a:ext cx="803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a quantile/probabilistic prediction from the prior model outputs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7A186F-5095-450B-8BCF-43E2836D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4775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2C9CE7-34C6-421E-AAD9-6BE2BB9C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864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F"/>
                </a:solidFill>
              </a:defRPr>
            </a:pPr>
            <a:r>
              <a:rPr sz="1350" b="1">
                <a:solidFill>
                  <a:srgbClr val="10231F"/>
                </a:solidFill>
              </a:rPr>
              <a:t>Main takeaway: causal ridge won this comparison because it used recent measured behavior and simple wind physics without needing future information.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589C03-5958-43A2-91FC-67C2538E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CA4E69-7C9F-4441-A967-F8D8635B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0F2215-F460-4589-9B2A-B05CB68B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92224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83B017-6D01-4EEA-8C9B-4B0A6E42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CF84A-DD7D-4209-979F-E977386A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The forecast model uses recent behavior plus simple wind physics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9096C-EB65-4905-AB0C-094A0055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Ridge regression is the main causal forecasting method used in the paper ladder.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C4AF5-3082-4BEB-A21A-82227DDA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5486400" cy="33909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08e06cc6a4cec"/>
          <a:stretch xmlns:a="http://schemas.openxmlformats.org/drawingml/2006/main"/>
        </p:blipFill>
        <p:spPr>
          <a:xfrm xmlns:a="http://schemas.openxmlformats.org/drawingml/2006/main">
            <a:off x="571500" y="2063673"/>
            <a:ext cx="5334000" cy="246395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E8022-C7FF-4125-A84B-FC6DCD4C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0200"/>
            <a:ext cx="4914900" cy="33909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0116ae540af"/>
          <a:stretch xmlns:a="http://schemas.openxmlformats.org/drawingml/2006/main"/>
        </p:blipFill>
        <p:spPr>
          <a:xfrm xmlns:a="http://schemas.openxmlformats.org/drawingml/2006/main">
            <a:off x="6457950" y="1952236"/>
            <a:ext cx="4762500" cy="26868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2BE70-7C1B-4398-8EB6-C9BEBA26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30480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D71D6-8AE7-4C43-9FBC-DBDD13D8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4E0E7-7C32-45F8-8C0D-B3993CB3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340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BAF22-426D-499C-A709-4A05628D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7690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wind speed, speed squared/cubed, recent power lags, hour/day calendar 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7C331-BA1D-47A9-BB4F-A194CA5A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81600"/>
            <a:ext cx="30480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10161-4AB2-4E95-B0BC-609141F2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81600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FC225-0FA5-40DD-8F23-84C02942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340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3A901-91F1-487B-B089-F2748AE6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7690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predicted wind power in MW for dispatch planning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9700C-B1AD-418B-99E3-5596FAF9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81600"/>
            <a:ext cx="30480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0CBCB-FA4A-465A-B568-1FEAF2D2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81600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07296C-4F52-4F98-BFC6-A952505E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340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Reason it works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2C389-931E-44F7-9D1C-97E34466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67690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it learns the power curve and repeats from recent wind-farm behavior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ACC90-9CEF-42A2-A271-D55C1A7C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EB9EFF-99F5-4E3D-89F0-D3111008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316087-E6B6-43D0-8C1D-4B7CBFBD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195370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2AA3ED-E994-4062-8806-6CAE331F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84B80-9F2E-464E-AA3C-40177B9C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Gurobi converts forecasts into feasible storage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A83E7-56FA-4088-8B08-45E5B436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The optimizer chooses direct wind, charge, discharge, curtailment, and SoC while respecting the storage constraints.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7F209-BBEE-484A-BF7B-542A9EA0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4CE77-CA96-4016-8B5A-EF8B16AE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Forecasts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A1EBF-67AB-4DE2-A587-1C790877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B66"/>
                </a:solidFill>
              </a:defRPr>
            </a:pPr>
            <a:r>
              <a:rPr sz="1125" b="0">
                <a:solidFill>
                  <a:srgbClr val="5C6B66"/>
                </a:solidFill>
              </a:rPr>
              <a:t>wind + price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5CF3C-C9B5-4176-8851-77908114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33C59-4FC3-4B32-8B8F-5C55987C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76450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29EDB-A568-4A5E-BDEE-1AEC315E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05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C66"/>
                </a:solidFill>
              </a:defRPr>
            </a:pPr>
            <a:r>
              <a:rPr sz="1500" b="1">
                <a:solidFill>
                  <a:srgbClr val="0E7C66"/>
                </a:solidFill>
              </a:rPr>
              <a:t>MILP/Gurobi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1F3BC-4148-45D3-A26C-F47F44F6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479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B66"/>
                </a:solidFill>
              </a:defRPr>
            </a:pPr>
            <a:r>
              <a:rPr sz="1125" b="0">
                <a:solidFill>
                  <a:srgbClr val="5C6B66"/>
                </a:solidFill>
              </a:rPr>
              <a:t>maximize realized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820A1-06A8-44CF-BECB-18664FBE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765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45F59-DD1C-4156-ABA6-C5EC1757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76450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3642B-E505-4DE9-ABC7-DE5E29C3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05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Decisions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F0017-67ED-4DE3-AA6F-F430AC30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479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B66"/>
                </a:solidFill>
              </a:defRPr>
            </a:pPr>
            <a:r>
              <a:rPr sz="1125" b="0">
                <a:solidFill>
                  <a:srgbClr val="5C6B66"/>
                </a:solidFill>
              </a:rPr>
              <a:t>direct, charge, discharge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9DA9B1-767A-4495-B14A-AB220DB6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46CB6-F109-4B98-A5D6-69658AB8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D53538-8A97-4B84-8D2F-9284DB13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05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Scoring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52B975-2FB0-48EF-882D-A64DF9B4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B66"/>
                </a:solidFill>
              </a:defRPr>
            </a:pPr>
            <a:r>
              <a:rPr sz="1125" b="0">
                <a:solidFill>
                  <a:srgbClr val="5C6B66"/>
                </a:solidFill>
              </a:rPr>
              <a:t>revenue + COVE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0CE95-99B0-4543-BFE0-76AAD328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95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8E8746-BFBA-4BD4-9ADF-04F6D73C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90975"/>
            <a:ext cx="2800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Constraint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974A3-C5DC-4911-98CA-46A49BFE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657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193ED4-93C8-471F-AD7B-7BD2C7E8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90975"/>
            <a:ext cx="641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6E61C6-BE1D-4F82-87EA-1A6E58EC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295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FDF8C-9201-4DB0-84E9-2204CE37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800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SoC bounds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154442-F79A-4EF3-838B-FDC973DD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38625"/>
            <a:ext cx="657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0B184D-5AD5-4674-BA3E-40ED1BE2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24350"/>
            <a:ext cx="641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battery cannot be empty or overfull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EDBC72-5384-4616-8420-6A1BA735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295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4F269F-D134-449C-B417-92F90277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2800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wind-only charging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A034DA-45DC-46A2-951B-9704A28B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72000"/>
            <a:ext cx="657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80D34C-7DF6-45DC-8D83-A1D679F1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57725"/>
            <a:ext cx="641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storage charges only from wind, not the grid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3A98C9-51E1-42F1-B0BA-F29B7116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295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5B44D2-5BE5-4197-8914-07AB030F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2800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249 MW grid cap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B38131-EE4F-4489-870C-C3A94B62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05375"/>
            <a:ext cx="657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0822E5-7C12-459D-81B1-A7B326F2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91100"/>
            <a:ext cx="641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delivered power cannot exceed export capacity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D43656-D4C3-4C56-AF57-FCD1879D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295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442185-8891-44A6-A8C9-51DA9C13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24475"/>
            <a:ext cx="2800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no simultaneous charge/discharge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D29E1A-721E-43E3-A96E-B1F30699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38750"/>
            <a:ext cx="657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B5FAB8-7531-499F-9B2C-5A5F75AC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24475"/>
            <a:ext cx="641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one operating mode per hour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04D6BA-BB46-45EF-A11B-DE8817F3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295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BA1AC1-633B-4F4D-A4D6-BBEBCC81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2800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chronological SoC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9ACB18-FF71-4343-A9A7-A28A585E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572125"/>
            <a:ext cx="657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7C289A-581A-4931-B83B-FC43A8C6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57850"/>
            <a:ext cx="641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battery state carries forward hour by hour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D5E6EE-E21D-48A5-8279-65FA71F4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952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CBD3C6-4DC3-4138-95B1-4FF6E097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5F8B3E-CBE9-4EB4-A565-5203AF89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D39E3F-D990-4C35-9821-32F4CBBA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538313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A81DD9-FB98-4F0F-883B-9F625236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076AA-A61A-4317-801D-F8B6D74D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Step 2 finds the best deterministic rolling horizon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696F0-6B93-49BF-81FD-634CCADD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With the causal forecast fixed, the experiment varies how far Gurobi looks ahead; this table uses the 75 MW direct reserve run.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142E8-8781-45AF-AB6D-B73D7250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4953000" cy="2943225"/>
          </a:xfrm>
          <a:prstGeom xmlns:a="http://schemas.openxmlformats.org/drawingml/2006/main" prst="roundRect">
            <a:avLst>
              <a:gd name="adj" fmla="val 51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47" name="Chart"/>
          <p:cNvGraphicFramePr/>
          <p:nvPr/>
        </p:nvGraphicFramePr>
        <p:xfrm>
          <a:off xmlns:a="http://schemas.openxmlformats.org/drawingml/2006/main" x="704850" y="1762125"/>
          <a:ext xmlns:a="http://schemas.openxmlformats.org/drawingml/2006/main" cx="47625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226c59642444e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27484-8086-4A67-9E8A-E3AE5B30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47825"/>
            <a:ext cx="4857750" cy="2943225"/>
          </a:xfrm>
          <a:prstGeom xmlns:a="http://schemas.openxmlformats.org/drawingml/2006/main" prst="roundRect">
            <a:avLst>
              <a:gd name="adj" fmla="val 51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6343650" y="1762125"/>
          <a:ext xmlns:a="http://schemas.openxmlformats.org/drawingml/2006/main" cx="46672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36da25fb3d421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F5ED3-748F-47AC-9F90-7DD976C5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816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1B9A7-091D-4232-AE88-F89DE9B4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673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Horizon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70BCB-6108-4EF5-B163-E6C07566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81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96DB7-E623-4CDC-9A9E-00043387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673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24h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0C6D0-A350-481F-B15E-943DCC3E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81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F3C81-29CD-465F-A958-0812EB82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673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48h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B60C6-91AF-4555-AA0D-917E4948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81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BF8D1-3E1F-443D-A21A-F10EFEBA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673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72h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DEB97-6BE0-4A64-9426-77A8F655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81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05F95-2BD6-4FD3-86D0-38848937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673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168h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5EB4EC-0813-477E-B89B-918A5A34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5631C-8BA7-4C2A-838C-865ADD3A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02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COVE gain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1F1533-C5EB-4998-8C4E-8D48889B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F24C87-CF1A-4EF1-8FBF-06EA0247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102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3.31%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17EFCB-84FF-40D7-8D84-9A8273C3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5245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423962-ECB1-4074-BE98-6532F2AC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6102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6.25%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4581F2-8692-4BC8-9EED-45DC84BD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245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9803F-4405-407A-B7E9-0FBC7D70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102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6.06%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E1527F-6978-464B-B259-1519B17B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BAB910-9F5A-42FE-BB54-80EEBABF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102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5.44%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7A34B7-FE4D-4878-872E-CA9C0E57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8674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BB2540-1F9B-499F-AAD3-422C02DD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531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Revenue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978CC1-0A00-465F-8719-49B30678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8674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F3D392-B039-4958-9B45-2972F5C4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531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$7.38M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02E337-F096-41DD-B42D-6BFED68E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8674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3EFD10-831C-4133-88F9-72B184C9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531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$7.61M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DAEE66-C76B-411E-BC9A-8066F5BA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8674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87BE7C-23BE-4994-B584-BF0FD514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9531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$7.59M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D31D0C-1ACC-4135-9318-D27ED4C7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8674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303EFC-1BFC-4043-AA7D-22A7BD45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9531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$7.54M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1D8632-2DB9-4758-A2E9-E5BE7C88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81600"/>
            <a:ext cx="781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7C5AB2-520D-4154-A036-FBE6946F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134100"/>
            <a:ext cx="866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Main point: 48 hours was best because it sees enough future price movement to use storage, but avoids leaning too hard on poor long-range forecasts.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4A8EF6-04BE-471F-B144-5B2A63A2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652FDE-C819-4EB9-883F-FBD3CBD5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5C7086-D8D6-449B-837F-201F6CDC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279713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1AD12B-FC33-442D-B68A-4A7DB004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7AE25-40BE-47AC-B015-0BC5C284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Step 3 adds uncertainty instead of trusting one forecast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702CF-6024-4CAC-A01C-C4EF995F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The scenario controller tests several possible futures and chooses an action that works well across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A6760-62CF-4B5C-BF70-C3CB9EBF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4953000" cy="2943225"/>
          </a:xfrm>
          <a:prstGeom xmlns:a="http://schemas.openxmlformats.org/drawingml/2006/main" prst="roundRect">
            <a:avLst>
              <a:gd name="adj" fmla="val 51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57" name="Chart"/>
          <p:cNvGraphicFramePr/>
          <p:nvPr/>
        </p:nvGraphicFramePr>
        <p:xfrm>
          <a:off xmlns:a="http://schemas.openxmlformats.org/drawingml/2006/main" x="704850" y="1762125"/>
          <a:ext xmlns:a="http://schemas.openxmlformats.org/drawingml/2006/main" cx="47625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af73668a96489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953F3-9E8C-4B98-ADF8-759A4F6E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47825"/>
            <a:ext cx="4857750" cy="2943225"/>
          </a:xfrm>
          <a:prstGeom xmlns:a="http://schemas.openxmlformats.org/drawingml/2006/main" prst="roundRect">
            <a:avLst>
              <a:gd name="adj" fmla="val 51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59" name="Chart"/>
          <p:cNvGraphicFramePr/>
          <p:nvPr/>
        </p:nvGraphicFramePr>
        <p:xfrm>
          <a:off xmlns:a="http://schemas.openxmlformats.org/drawingml/2006/main" x="6343650" y="1762125"/>
          <a:ext xmlns:a="http://schemas.openxmlformats.org/drawingml/2006/main" cx="46672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176ec11f32412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4B1EE-2C4F-44B2-8BAA-1750C4C6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28" y="39052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231F"/>
                </a:solidFill>
              </a:defRPr>
            </a:pPr>
            <a:r>
              <a:rPr sz="750" b="1">
                <a:solidFill>
                  <a:srgbClr val="10231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9676A-A714-4346-A930-C5DB0003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0000" y="18800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231F"/>
                </a:solidFill>
              </a:defRPr>
            </a:pPr>
            <a:r>
              <a:rPr sz="750" b="1">
                <a:solidFill>
                  <a:srgbClr val="10231F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3CF30-9009-4E73-8709-6390F2E1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000" y="24800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231F"/>
                </a:solidFill>
              </a:defRPr>
            </a:pPr>
            <a:r>
              <a:rPr sz="750" b="1">
                <a:solidFill>
                  <a:srgbClr val="10231F"/>
                </a:solidFill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7BFFA-7AD7-4D2F-888B-6259985B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000" y="27400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231F"/>
                </a:solidFill>
              </a:defRPr>
            </a:pPr>
            <a:r>
              <a:rPr sz="750" b="1">
                <a:solidFill>
                  <a:srgbClr val="10231F"/>
                </a:solidFill>
              </a:rPr>
              <a:t>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9FEDB-00F7-4745-B1BC-DB127080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000" y="35400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231F"/>
                </a:solidFill>
              </a:defRPr>
            </a:pPr>
            <a:r>
              <a:rPr sz="750" b="1">
                <a:solidFill>
                  <a:srgbClr val="10231F"/>
                </a:solidFill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9ED4B-5336-4E78-B17B-FFE4BE5D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70998-2ECD-48D2-8223-E90F7940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292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6B8D5-E16D-484B-BFD8-FB334071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435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46879-15FF-4B42-903B-EF738075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292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 forecast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2748C-CC84-437E-AB3A-A33F485F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1435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BD3009-BC87-4948-8B57-59A91E53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2292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 scen.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3C082F-6EDD-444E-B93E-1F14F463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435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B7BA2-CB53-45D7-8A1C-2857BA58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292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 scen.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C321A-1C01-4457-A70F-B150BAA6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1435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A81404-A839-4A39-9DD0-19D0B8A9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2292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7 scen.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8D9EDC-CBDA-4A0C-A5DA-CB5A949F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435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FF2FA-253F-4F34-97F5-0655B77F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292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10 scen.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96F50E-70CD-45FE-A112-9062E818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9F5565-1AF7-4D7B-A741-ED140322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530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COVE gain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4ED6FE-57DA-4F2C-BF64-8F6945D0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6735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D3A73C-983A-4DB7-B488-61EC4F3D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5530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19.40%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BC944B-EB40-4F4F-8560-0EE146F6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46735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E86869-CF97-420B-806F-052B3E37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5530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23.19%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3B464F-FD89-4A67-9D70-00D048F5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6735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6C55DE-0DF2-4E4E-9C20-61A24E80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5530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23.01%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8DD18D-4ECB-4F37-98A4-5152833B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46735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A54FB8-9DB1-4BA7-ABE4-58ED900C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5530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23.03%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21DCA4-804E-49E1-8D38-AB228448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6735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C30D56-1A4F-491F-9AE5-485CA11A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530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20.47%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2ABE3A-906D-4338-8569-D5487C41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912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F8D605-1C73-4241-AD14-848BA975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769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Revenue gain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E00DAD-67D3-4F7B-942F-D36A26E2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7912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BFFC60-B96F-4726-8008-46B7F3DF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8769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24.07%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F8BCD4-8744-4BB6-B1B7-7EA9682C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7912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1FE4D8-4F71-4EBC-B9FD-03424623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8769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30.19%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064638-676F-4C0C-A37F-54CE2F4C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7912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4BEA21-6003-45E7-BDEF-27B0AD75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8769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29.88%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8BDE54-2AA2-4AC4-A3B4-98D9EF39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7912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C86E81-D44B-482B-9049-6BE997B1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8769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29.92%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0672CB-6E78-4DC6-8C2A-48DE03BC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7912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57C2E1-E014-4D61-89AF-0A07FBD0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8769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25.74%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48394F-C245-44D6-A807-43B24E8B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9001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3980F6-05DE-4EB6-99A8-749E0695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A61039-E57E-4371-B939-4580CB53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3E588B-DAAB-487F-BE18-5DA9FE44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377610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D96BF0-9305-4B07-BD0C-410C66FC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B5AC6-D807-4009-AC28-8566DCF7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Oracle dispatch gives the perfect-information ceiling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7523C-878A-430C-97F2-D4AB22FA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This is not a real controller; it tells us how much value is theoretically left if future wind and price were known.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0EEB0-9779-4578-8993-A32CFF37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4953000" cy="2943225"/>
          </a:xfrm>
          <a:prstGeom xmlns:a="http://schemas.openxmlformats.org/drawingml/2006/main" prst="roundRect">
            <a:avLst>
              <a:gd name="adj" fmla="val 51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704850" y="1762125"/>
          <a:ext xmlns:a="http://schemas.openxmlformats.org/drawingml/2006/main" cx="47625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44d0226d96401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8E4CC-883B-455F-9A5D-71364D58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47825"/>
            <a:ext cx="4857750" cy="2943225"/>
          </a:xfrm>
          <a:prstGeom xmlns:a="http://schemas.openxmlformats.org/drawingml/2006/main" prst="roundRect">
            <a:avLst>
              <a:gd name="adj" fmla="val 51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6343650" y="1762125"/>
          <a:ext xmlns:a="http://schemas.openxmlformats.org/drawingml/2006/main" cx="46672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307ee23e4c4ab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CB36E-6130-441E-9E3B-40FF54C9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E6521-1793-4868-8C49-C33D6116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Oracle horizon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093B0-A108-4B66-870B-33EAC34F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816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C1BFB-B571-40B2-9340-66C6C893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673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24h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E15AA-1404-4E69-8338-98F60593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1816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3C233-951D-4EC3-BF8C-3A0CEFDA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2673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48h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88E74-992A-4CCA-B9A2-596A8E67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816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2E8F9-708C-4C62-BC22-B94737BA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673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72h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233771-B305-4E7F-97AA-7BE22081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1816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7148D2-2078-4FB9-AFA3-AAA291C3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2673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168h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BA94E-39E3-4D5D-A49E-C3A9E9E3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054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47088-D981-4DF6-B23B-EA5FEAC5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911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COVE gain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22CFD6-E125-4F2D-AB3F-04C2ABBD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50545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B958E1-EB13-44CB-9CFE-B30ABAE4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911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28.30%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84DFD0-AC6B-487A-BFF2-3DF698A3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50545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C8BB35-68DE-42C2-8FC3-EA031733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5911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31.32%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0AC8A5-5081-49AC-8C1D-D1300C46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0545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33AF4E-B547-4A9E-A595-5289FA24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911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32.35%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4ACB60-9D8D-4125-A3AE-087DE30A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50545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3620A5-8BD1-4937-813B-0427E1E3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5911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32.83%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4B3E31-0252-4E87-B2E5-897950E4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293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A045F3-A8B8-4726-ADCC-01471BBC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150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Revenue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535DDF-EBC1-4A09-B8CE-D3E31E12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8293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D37F51-19E6-46C9-8A96-D538C6C3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150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$9.95M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980A66-CAC3-4A91-99B8-CB663F02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8293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52EA36-1C0E-493D-8E9C-98549229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9150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$10.39M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EEA0F6-8F95-4A56-9A1C-D16E95B8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8293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F3A861-8F02-477D-833F-FC908884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150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$10.55M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D70EA8-062E-4F66-BE4B-6CBB2FC7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8293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0AE7C4-FBCB-40F9-8FD1-5CFE7AB6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9150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$10.62M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399B74-20D7-4B11-9882-2C6C2587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7715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C3115E-01B4-46C4-83FD-906B3E3C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833D29-598E-4D5A-8080-40AA0E5F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866F6D-1B06-408F-82DA-125891E1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844456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B6DCE6-FBFA-4C38-B2D7-3CAA0C1D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B3B22-97D4-4AE2-919D-B60B9519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The repository now matches the paper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16042-0853-4452-B6C5-384D61AA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Each part has one command, one README, result files, and figures.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5508E-93AA-4F22-8DA7-7CCA3E41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86B38-CA09-49DF-8E72-8B0B74E9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0497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Folder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93258-6C0D-429A-AC72-3DBC5538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6192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3B590-4B46-46D0-893A-4F0B6425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04975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Command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6E767-EA39-406C-97D9-6B8E128A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192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C525C-818F-4F86-A335-52B64E35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04975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DE2DA-423F-4D4E-9D05-02A26A64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FC162-B71A-48EF-A6B0-57119B95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causal ridge regression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0E605-B273-4819-BC30-983B2F9C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383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3A55B-7D45-4B43-8D64-A73EF64F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24075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RUN_1_FORECAST_RMSE.py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B6D441-22AD-46D0-A2C2-D18E0494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6A428-8CC7-4965-A4C0-4BC8A71F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24075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forecast RMSE comparison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9B79F-DD30-4C88-8964-71573C72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D0FBE-D6A5-4CCE-8FAF-30F3643D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rolling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622DDC-2879-4269-A046-4D898330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574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26D116-5ADF-4033-B352-41C7DC17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43175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RUN_2_ROLLING_HORIZON.py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EFD50-41E1-4C95-862C-F2F85C20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DD65AD-173C-43F6-8F2C-40A02043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43175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deterministic Gurobi horizons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E70EB7-E49D-4CBE-84D8-ABC3416E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008C06-2441-448A-AB0E-E0779645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different scenarios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DE7B10-B328-4903-A2FB-3B6A85F3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765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1E4568-ADDE-476D-B489-7E789C29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62275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RUN_3_SCENARIO_COMPARISON.py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6DE3A8-9DCF-4AE6-8E7C-81F86336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765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49C512-8C50-4570-8ED3-60B85AD1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62275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1/3/5/7/10 futures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0DAE3E-CBC2-44F1-B089-66A49515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27781A-8CA8-4624-8D80-3D6E5347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oracle upper bound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4ACA3E-84E1-446D-9966-C9124B0B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956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50FE2B-CA38-468F-BA87-44E9CFD9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81375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RUN_4_ORACLE_UPPER_BOUND.py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EDF45A-D870-456F-94D2-A27C0D12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956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A96315-47D1-45D3-8F15-2352685C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81375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perfect-future ceiling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848794-01A6-48B2-B974-916846BD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093004-404C-4F65-B608-EE0FE6D7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0047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b6 verification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EE7CF0-51E5-4763-82D3-B78317ED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147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C980CD-7C3D-4164-9938-61D61A51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00475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B6_CANONICAL_RUNNER.py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B8D333-6939-4AEB-8843-0B01FEB9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9B922F-E72B-4D92-94D3-CC9F5BF4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00475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separate 2020 frozen QA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3B5DA5-5FCA-4928-8795-1EDF356B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0012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2A0172-113F-4241-AFEA-A0A22F45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2857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ACA3B6-948C-4473-809B-E79B6357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29CDED-DD18-416D-A715-84F09F8A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672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What changed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C51D25-2D4E-4E28-9B32-8A2DE3F6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10150"/>
            <a:ext cx="253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Restored forecast code, separated B6, added oracle folder, archived older causal-dispatch outputs.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FB3299-E8A9-45D8-A5F7-FBA0E0F1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14850"/>
            <a:ext cx="2857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0B2766-A7A8-4724-B18F-361911E1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148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38821C-89BC-4B19-9468-B1CF90EE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672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Why this helps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60203E-ACD2-46F4-8FE1-51785DE8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010150"/>
            <a:ext cx="253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A reviewer can now run one command per experiment instead of hunting through the old repo.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06D39D-167C-465D-B20F-6F9C75E0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14850"/>
            <a:ext cx="2857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6FCFF0D-C447-40EE-AF4A-68494006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148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8D0A2C-1553-4557-9BD5-21E6C105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672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Current commit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F32A30-C941-4E9A-8A31-9D44C646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10150"/>
            <a:ext cx="253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11b5214</a:t>
            </a:r>
          </a:p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Organize Summer REU reproduction ladder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6DA3F4-46F1-4D69-85C8-CEBFBC54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C8BE87-9852-470C-A827-2369CAD8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552C5F3-5154-4637-8343-315164A5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924373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6E326C-E0B2-4586-AA79-A61BE6FB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B55A5-C740-48D9-9523-908E0953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DAM was tested, but it should not be used in the final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75029-9C4B-4B66-AEAD-6A64699E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Day-Ahead Market prices sound realistic, but the current DAM version performed worse and adds a data-matching problem.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258D5-DAE3-45C7-8C4E-0288E9F2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314325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A4BAB-FC70-46CE-9886-994D5BDB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B0B22-4DF8-4450-8DB3-6C2A0A9B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Why DAM seemed tempting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438E2-CCE7-4807-B855-49D46A66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819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DAM is known ahead of real-time operation, so it looked like a realistic price input for dispatch planning.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576B3-A331-4E29-AC40-DAFA5FED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95450"/>
            <a:ext cx="314325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A9D3E-E43E-4C81-A63B-AA2956C7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9545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58B7C-6591-4D96-BF59-89EF581C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478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Why we cannot use it here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58473-520B-483D-862E-A866246A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90750"/>
            <a:ext cx="2819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The DAM files do not cleanly match the exact Pyron real-time LMP signal used for scoring. If the planning price and scoring price are mismatched, the comparison becomes unfair.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FC741-3492-4C9B-85EA-CADF33C9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14325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8737E-6E34-49D8-9377-01232C72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BF946-6700-4C1D-9F8A-E64CFCAF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478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What happened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13836-5990-49BE-966E-8F7FADC3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2819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In the tests, DAM did worse than the frozen causal ridge setup, so it is excluded from the finished paper ladder.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78C5C-09E6-4F44-A1D4-81C30FFB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576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0595F0-B67C-4E95-8807-1C34DA30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4337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B92078-3866-4333-8609-8E72D3AB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5765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47937-15CE-41F2-8373-17A654F5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4337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Answer for the meeting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4A25F9-67D4-4C73-8C4F-DAC53A82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4F1B08-F72D-419B-9C34-FE9C8298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4342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Does DAM improve the current result?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4E98AC-A923-4061-A281-227C97DB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577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A63E23-1C5C-4C83-A99A-DC12C3D9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4342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No. The tested DAM setup performed worse than causal ridge.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3472CE-B337-4F4A-8C8F-49066E09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BBC82A-689D-44D0-A042-C0B8306A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4347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Why can a known price perform worse?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DEE327-3722-4E30-9D96-54FA9B92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D961BB-B1B5-4261-A3F0-FF9102D7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4347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Known does not mean matched; the DAM node/timing may not line up with realized PYR_PYRON1 LMP.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7A9B25-2850-47E7-B336-4F99E114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578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5E8AE5-0717-4E3B-AC98-960B0E1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4352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What should the paper do?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214323-26E3-40D1-8BFA-04F091E9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578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121D5F-ADCA-4EA0-9962-E12433CA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4352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Do not use DAM in the headline result. Mention it only as an excluded sensitivity check if needed.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E59177-D039-41AC-B21F-53854511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576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624360-14E6-4D53-8E3D-8D9CAC17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F76114-FD2B-46BC-83CB-6C5EC2D4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6CE911-FC92-45B2-B3A6-90910612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071170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78F706-DD74-4A6D-9144-0E46458D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1D52F-EC20-4723-A1E0-A7298F02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The newer proxy CSV is useful only as a sanity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F1A30-B20C-4B87-8BB1-BFF4C879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We tested newer/proxy data to see whether the workflow still behaved similarly, but it is not official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F5064-369C-46EF-A748-6B8BA89E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3143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91778-BF7B-4871-838D-B7E63B14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61048-B41B-4318-BE0E-DCB69582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What the proxy file was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DC673-9C1B-4C26-8FFC-75C1B19F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2819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A reconstructed newer dataset made from available public pieces after the original Pyron file ended. It was meant to imitate the old data format.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12F21-2444-410E-9D8F-AFC2036D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57350"/>
            <a:ext cx="3143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88BCB-FC00-4812-A324-DD702933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573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D8225-F0DE-4E10-B386-4A90FDF2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09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What it showed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249A1-ADCA-4FFC-A811-EE145051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52650"/>
            <a:ext cx="2819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The broad behavior looked similar: forecast-driven dispatch still needed careful horizons and constraints.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F0D9D-6F39-4EDD-A16D-C1FBDFD8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57350"/>
            <a:ext cx="3143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5D8CE-B53B-49F1-A3EB-BEF11444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573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462E7-1B49-493E-9E1F-9D677ACB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09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Why not trust the numbers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DFC439-11A3-4C30-834A-4BCF3D54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52650"/>
            <a:ext cx="2819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It is a proxy, not the same validated Pyron dataset. Missing pieces, source mismatch, or formatting assumptions can change revenue and COVE.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472FB-A769-458C-9804-95007D75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32023-B493-4261-8C6B-F556FCE2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81475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Use in final paper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1CEE12-BB53-45F5-A920-DB7F6963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E5D96-0F1E-4A22-8CA6-C9E9E917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81475"/>
            <a:ext cx="651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BDFE65-0C34-48B8-B82A-A40689A7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53E274-DF71-403D-B640-B3540FD1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00575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Official headline numbers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6D3AD7-8945-4BCA-967B-F396862D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148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07A38-C965-472D-A997-34C2A4E6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00575"/>
            <a:ext cx="651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Use the frozen Pyron 2014-2023 ladder, not the proxy.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F8512B-392F-48D6-BBC6-D01FE5DA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339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52FC63-1EF8-41B1-94F6-130183DE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9675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Mention in discussion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3FE288-9DBE-43E0-AE44-5B7C0A79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339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8E2980-AE15-4F39-87CF-98B7E3FA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19675"/>
            <a:ext cx="651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Can say newer proxy data was tested as a directional robustness check.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9ABC4D-FEB3-4B9D-802E-81375420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530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843BA3-C12D-4793-A453-B46A8653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38775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Claim strength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64158C-A7D4-49E1-B616-D92F6C99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530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A6E4D1-B32D-4CA4-876D-DA52E844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38775"/>
            <a:ext cx="651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Do not claim exact proxy percentages as final results.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CDB6F2-1945-4161-99E3-879A4B3D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50"/>
            <a:ext cx="9620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2BB3C5-C0EF-47E7-88C9-42810096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063E36-B169-47CC-8BE5-382EF037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BDC29D-2516-48B6-95EC-61D51F18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829226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038E9E-1C8C-406A-B0AC-B80749EA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D52E4-A14B-43BC-A14C-774CA849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Main concerns are now explicit instead of hidden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8FDBE-6E50-48AD-8334-0A598963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This is the checklist to discuss before turning the work into the final paper.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12E67-236B-4EA0-AAFC-07356ECB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A6824-C189-447E-9BBE-F8B86D3B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Concern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DF335-615C-4BEF-AB2D-09611C44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EB7E4-D83E-4981-AC80-00ABECD6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04975"/>
            <a:ext cx="727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Current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94640-8F97-422A-8F93-DDF86B60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5ECA4-1A28-45EF-9574-336387BB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Canonical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744BA-B586-4D51-B4B9-66B72A47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193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5754F-6B49-4F39-B445-DC3843B6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05025"/>
            <a:ext cx="727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Baseload is the reference; oracle is the upper ceiling.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3D761-ED39-4AE9-A002-5C246AA4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1A449-B483-4371-8DE3-D02380C9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Result reconciliation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53BF5-9F1D-4A50-832B-060F8B44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193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E4096-49A7-4F5A-B2B7-FDE1AFD4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05075"/>
            <a:ext cx="727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Each headline number is mapped to one folder, command, CSV, and figure.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F5203-C41D-4FBF-B97A-E52C6804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613B28-91B6-49AD-99FF-9BFE1EFC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Direct/curtailment logic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1403C-449E-4A17-805A-5CDF1D7F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194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10B827-7D3D-4AA9-9597-1662738B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05125"/>
            <a:ext cx="727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B6 uses planned direct wind during realized execution instead of selling all leftover wind.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71349E-06C8-4F9B-A2DD-2DB1E84D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248C43-D0F7-4D48-BE17-AF09D228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Constraints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88EA5D-E212-4993-9D55-C01699CE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69F4E4-7B3A-44E4-87F6-E3A3DF37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05175"/>
            <a:ext cx="727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Nora/Chris constraints are listed; B6 verifies the corrected 2020 execution logic.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844D5F-0D24-487E-80CE-4E0E5CCB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CE523F-62FA-4FE5-A4D3-5B655403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Scenario maturity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FFE941-8B26-4519-9C47-F2CC93AB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195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440D26-ED2C-4057-8DF0-41EF1EA1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05225"/>
            <a:ext cx="727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Scenario result is promising but should be presented with exact assumptions.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60E43B-87D9-4DEC-BC25-82FC0C54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CBDE1C-9DA4-423C-94A4-E55B1798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Storage configuration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23BA1D-54DD-4F4F-B5A3-0BA84CCB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195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0194D6-407F-423F-A767-9CF60BDD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727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Final paper should freeze one CAES config across all headline comparisons.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A77453-61AB-4017-BC55-4179FE27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844E1B-32F1-4376-9F2B-99DFC0CE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DAM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FAB268-8C7F-48D7-BF5F-B5828F90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196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EB1E44-07E4-4AF0-B1CE-ED2E70B9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05325"/>
            <a:ext cx="727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Useful future extension, not part of the current frozen ladder.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C42DB5-B553-4714-A669-145683CF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2870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09377A-E070-46C4-BC09-D58CFEBD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6FB757-330A-4453-A55A-6DF8BB08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DFE550-9846-4126-A822-58626DF7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421695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BFF702-8882-4D64-88E4-3AAE2A36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693D6-AE9A-478D-8B0F-63BD7B9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These figures become the paper's visual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9E218-DA11-4D12-BD03-A4AA3E14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The 3D plots are not new results; they show the same tables as value tradeoffs.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71823-7EB2-4758-883A-96FE7505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19250"/>
            <a:ext cx="358140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52765d8964500"/>
          <a:stretch xmlns:a="http://schemas.openxmlformats.org/drawingml/2006/main"/>
        </p:blipFill>
        <p:spPr>
          <a:xfrm xmlns:a="http://schemas.openxmlformats.org/drawingml/2006/main">
            <a:off x="796320" y="1695450"/>
            <a:ext cx="2865060" cy="2857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8AAD8-807C-4615-8C65-E9D6BCA3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358140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4c3cc8d4c4584"/>
          <a:stretch xmlns:a="http://schemas.openxmlformats.org/drawingml/2006/main"/>
        </p:blipFill>
        <p:spPr>
          <a:xfrm xmlns:a="http://schemas.openxmlformats.org/drawingml/2006/main">
            <a:off x="4654651" y="1695450"/>
            <a:ext cx="2882698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4707E-3A22-4F55-B802-3A21DC4B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358140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9c0f41b854b34"/>
          <a:stretch xmlns:a="http://schemas.openxmlformats.org/drawingml/2006/main"/>
        </p:blipFill>
        <p:spPr>
          <a:xfrm xmlns:a="http://schemas.openxmlformats.org/drawingml/2006/main">
            <a:off x="8529360" y="1695450"/>
            <a:ext cx="2867579" cy="2857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06852-0631-4D48-A8FF-C2D40F00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2762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A9A15-C408-4391-8CA6-EE77B90D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DF0A6-417C-486D-ACE9-477DC0E8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Deterministic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3BC54-A1A4-4C69-BB92-B4B77620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483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48h is the best realistic rolling-horizon case.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57472-E9E1-42A8-BC8C-1FAE2B3C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953000"/>
            <a:ext cx="2762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C6591D-BE3E-4D58-9026-8D12ADB1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9530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0D211-5D6B-4AA4-8335-FFCBD70B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1054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Scenarios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189DD-354C-4374-ACEA-72534CA8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4483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3 futures had the best revenue/COVE tradeoff.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F3544-6564-4388-AF93-882954F6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953000"/>
            <a:ext cx="2762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DA130C-E838-4048-8A1C-507E8063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9530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F5577-7C85-450B-AB72-9AF33293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054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Oracle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1AA548-0F7E-43A2-BE75-F0F7F4A1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483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168h perfect information is the ceiling.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2C0287-25D1-476C-8947-01443EF6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960773-C0B1-44D7-9634-34B51178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36A74A-C23D-4F08-95F2-582920DA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287104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29144-1C07-4742-98FB-35F32EA9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AE83D-FDE3-4B3C-80CC-0704BD09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Large figure: causal ridge gives the best forecast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72484-71AB-43DF-ACE6-2DB50976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Use this slide when explaining why the paper uses causal ridge before dispatch.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1BFD2-34A1-4703-B5C1-C9E8A417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7620000" cy="41148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19150" y="1600200"/>
          <a:ext xmlns:a="http://schemas.openxmlformats.org/drawingml/2006/main" cx="7429500" cy="3886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dce073f37f487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C59AE-3920-4F0F-B88F-19554836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66900"/>
            <a:ext cx="2095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60F83-D1A6-4E10-8BEE-A5B8C03A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76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7C66"/>
                </a:solidFill>
              </a:defRPr>
            </a:pPr>
            <a:r>
              <a:rPr sz="1650" b="1">
                <a:solidFill>
                  <a:srgbClr val="0E7C66"/>
                </a:solidFill>
              </a:rPr>
              <a:t>Best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49D9D-2051-42EF-8431-A28DD1CB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384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1F"/>
                </a:solidFill>
              </a:defRPr>
            </a:pPr>
            <a:r>
              <a:rPr sz="1800" b="1">
                <a:solidFill>
                  <a:srgbClr val="10231F"/>
                </a:solidFill>
              </a:rPr>
              <a:t>21.24 MW RMSE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D2070-62F8-4D09-BC5F-46FEC9F7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52800"/>
            <a:ext cx="228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C6B66"/>
                </a:solidFill>
              </a:defRPr>
            </a:pPr>
            <a:r>
              <a:rPr sz="1425" b="0">
                <a:solidFill>
                  <a:srgbClr val="5C6B66"/>
                </a:solidFill>
              </a:rPr>
              <a:t>Lower RMSE means the forecast was closer to actual wind power.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CBD45-4AEF-4437-A2F0-7EBAF186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9ABD5-5099-428F-987E-FDF2626C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F349C-CC3A-4E4E-A793-B1217F2B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146443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9435A-E16B-48B8-B4DA-721A74C5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AEDFE-3E8E-480D-BB8D-BB97C4D2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Large figure: 48 hours is the best realistic rolling horizon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DD574-9B06-401E-A355-81035D9F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This is the deterministic Gurobi result using causal ridge forecasts.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458A8-2E7E-4C4C-A8E5-B6731AF1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7810500" cy="4133850"/>
          </a:xfrm>
          <a:prstGeom xmlns:a="http://schemas.openxmlformats.org/drawingml/2006/main" prst="roundRect">
            <a:avLst>
              <a:gd name="adj" fmla="val 36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7620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0a25664a60441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BDC9D-95BC-4351-A8E5-8E9669F4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52625"/>
            <a:ext cx="21907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1203F-69FC-4DF7-843F-737DA47D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717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Winner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983E7-1F54-44A6-B37E-AD916B7B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146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31F"/>
                </a:solidFill>
              </a:defRPr>
            </a:pPr>
            <a:r>
              <a:rPr sz="2250" b="1">
                <a:solidFill>
                  <a:srgbClr val="10231F"/>
                </a:solidFill>
              </a:rPr>
              <a:t>48 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77AAA-A750-4FC6-A471-5003988F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956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7C66"/>
                </a:solidFill>
              </a:defRPr>
            </a:pPr>
            <a:r>
              <a:rPr sz="1425" b="1">
                <a:solidFill>
                  <a:srgbClr val="0E7C66"/>
                </a:solidFill>
              </a:rPr>
              <a:t>6.25% COVE gain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E6913-30B5-49E1-823C-9C91B0CB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00450"/>
            <a:ext cx="2552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C6B66"/>
                </a:solidFill>
              </a:defRPr>
            </a:pPr>
            <a:r>
              <a:rPr sz="1425" b="0">
                <a:solidFill>
                  <a:srgbClr val="5C6B66"/>
                </a:solidFill>
              </a:rPr>
              <a:t>Why: enough lookahead to plan storage, but not so much that forecast error dominates.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3FAA4-4F45-4DC4-BA79-DD3A6634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5FD5B-4437-4942-B6B0-DE380867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35609-CF25-4187-9527-990E3DA5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186642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11276-3C58-4689-9B06-85E493A5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7E3E7-4A43-4D5C-922B-978EBDB7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Large figure: three scenarios is the best uncertainty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09C73-D1C1-4102-A0FF-EACD1212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Multiple futures beat one forecast, but too many futures became conservative.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0223A-18B6-4F77-81D3-BF69A983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7810500" cy="4133850"/>
          </a:xfrm>
          <a:prstGeom xmlns:a="http://schemas.openxmlformats.org/drawingml/2006/main" prst="roundRect">
            <a:avLst>
              <a:gd name="adj" fmla="val 36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7620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a1e7eb6c6e457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769F5-B158-4F4D-8A66-B17E60DA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52625"/>
            <a:ext cx="21907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69F9D-F52B-4B92-8B48-E0444073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717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97316"/>
                </a:solidFill>
              </a:defRPr>
            </a:pPr>
            <a:r>
              <a:rPr sz="1650" b="1">
                <a:solidFill>
                  <a:srgbClr val="F97316"/>
                </a:solidFill>
              </a:rPr>
              <a:t>Winner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DACA1-E123-4EBF-8836-07807A3F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146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31F"/>
                </a:solidFill>
              </a:defRPr>
            </a:pPr>
            <a:r>
              <a:rPr sz="2100" b="1">
                <a:solidFill>
                  <a:srgbClr val="10231F"/>
                </a:solidFill>
              </a:rPr>
              <a:t>3 scenarios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431FE-343F-46CD-92EE-D78839D5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956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7C66"/>
                </a:solidFill>
              </a:defRPr>
            </a:pPr>
            <a:r>
              <a:rPr sz="1425" b="1">
                <a:solidFill>
                  <a:srgbClr val="0E7C66"/>
                </a:solidFill>
              </a:rPr>
              <a:t>23.19% COVE gain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36A5A-E263-40BB-91AD-98D7FED4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00450"/>
            <a:ext cx="2552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C6B66"/>
                </a:solidFill>
              </a:defRPr>
            </a:pPr>
            <a:r>
              <a:rPr sz="1425" b="0">
                <a:solidFill>
                  <a:srgbClr val="5C6B66"/>
                </a:solidFill>
              </a:rPr>
              <a:t>Meaning: uncertainty helps when it protects against one bad forecast path.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0B7AD-7AB3-460E-A082-E52B323A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66246-6991-4C5A-8356-1C68DACB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677E2-456E-487F-B191-103143C0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083267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7F469-D8B8-4183-A2A6-8E76D860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EEA96-014C-497E-AED2-BD6B1163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Large figure: oracle gives the perfect-future ceiling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6E05C-B7A7-4B16-A1DB-8F3C90AF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This is the highest possible comparison case because Gurobi knows future wind and price.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5BB07-75DC-4B56-B813-7BD46219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7810500" cy="4133850"/>
          </a:xfrm>
          <a:prstGeom xmlns:a="http://schemas.openxmlformats.org/drawingml/2006/main" prst="roundRect">
            <a:avLst>
              <a:gd name="adj" fmla="val 36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7620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080ad70b3f458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516C5-5B6D-4311-8346-3D954B31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52625"/>
            <a:ext cx="21907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33CEF-6004-4DED-AB94-0766AB61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717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Ceiling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DEC47-3AB7-45AE-881A-BE2BF1F1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146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31F"/>
                </a:solidFill>
              </a:defRPr>
            </a:pPr>
            <a:r>
              <a:rPr sz="2250" b="1">
                <a:solidFill>
                  <a:srgbClr val="10231F"/>
                </a:solidFill>
              </a:rPr>
              <a:t>168 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A9FBF-DE4B-44CF-89A1-366EA27D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956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7C66"/>
                </a:solidFill>
              </a:defRPr>
            </a:pPr>
            <a:r>
              <a:rPr sz="1425" b="1">
                <a:solidFill>
                  <a:srgbClr val="0E7C66"/>
                </a:solidFill>
              </a:rPr>
              <a:t>32.83% COVE gain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1F1E8-73F0-40D5-BD56-455E6228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00450"/>
            <a:ext cx="2552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C6B66"/>
                </a:solidFill>
              </a:defRPr>
            </a:pPr>
            <a:r>
              <a:rPr sz="1425" b="0">
                <a:solidFill>
                  <a:srgbClr val="5C6B66"/>
                </a:solidFill>
              </a:rPr>
              <a:t>This is not deployable. It shows the best possible target for realistic methods.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3360C-5FE5-4D2A-B32E-FFE526E8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C71BD-92FC-4C40-8B4A-1A39AB22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FB0F2-72E2-4431-BBBB-5EFB3445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672214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FAF779-C3CB-487D-80FB-6728B48B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E5F69-32B9-4E6B-B2ED-501FC68E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Large figure: the final ladder in one picture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49DFA-4B2D-492D-AEE3-C153F330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The paper story builds from reference case to realistic method to perfect-information ceiling.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50F72-8784-4D65-AD3A-32E6D152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C6B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BA3F5-6786-42F9-9412-925C39DB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79EA9-2B22-43FB-84D1-5549CE06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B66"/>
                </a:solidFill>
              </a:defRPr>
            </a:pPr>
            <a:r>
              <a:rPr sz="1125" b="1">
                <a:solidFill>
                  <a:srgbClr val="5C6B66"/>
                </a:solidFill>
              </a:rPr>
              <a:t>BASELOAD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CA45D-7F5C-4BCB-8603-57B0AFD5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0.00% COVE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32CC8-627C-47A8-A933-F3E579EC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05050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C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C083A-58D5-44E9-BDA4-B26EB6E5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52625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64877-F828-4E9D-A739-950E2219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52625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218F5-327D-43B7-81C4-B85D37AE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81225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FORECAST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F2E03-5A6D-4515-868B-BAE8EDE6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66975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21.24 MW RMSE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65D82-5E22-4CD3-BA4E-E40F10A8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05050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E8917-7571-4C5E-8DC0-64FCBB42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52625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17AFF-E384-4285-86B8-5064E49B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52625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9939FC-B9DE-4E83-AF05-1F61A94D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81225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66"/>
                </a:solidFill>
              </a:defRPr>
            </a:pPr>
            <a:r>
              <a:rPr sz="1125" b="1">
                <a:solidFill>
                  <a:srgbClr val="0E7C66"/>
                </a:solidFill>
              </a:rPr>
              <a:t>ROLLING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C7885-6600-4005-8182-C615DE6C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66975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48 h | 6.25%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399D9B-D50F-408E-8E9A-B90CA64C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05050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FEB4F-6CF0-415C-8962-5D249B2D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52625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4A7F11-30AF-47EA-BD2C-A37E8A53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52625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BEC440-1086-4CFC-83D0-A43DEDC5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81225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SCENARIOS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40799E-ACC2-44A9-B20C-0C23F828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66975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3 scen. | 23.19%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3E1B31-9E01-41D3-93B6-A09BF7A8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05050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13825A-754E-403F-B520-81511E73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D9333F-8BE7-41C3-A5E3-A10AF27C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20B74A-8BC4-439E-8664-5A67EB0C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81225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2626"/>
                </a:solidFill>
              </a:defRPr>
            </a:pPr>
            <a:r>
              <a:rPr sz="1125" b="1">
                <a:solidFill>
                  <a:srgbClr val="DC2626"/>
                </a:solidFill>
              </a:rPr>
              <a:t>ORACLE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32F832-3903-47A4-A673-433A0D4E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66975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168 h | 32.83%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E88F7F-D171-4332-A610-80CEBC81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2857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0D2B4C-8F35-4F05-A102-061ABD53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No dispatch yet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0EFCC4-7CD3-47D4-9450-96528554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Step 1 chooses the forecast by RMSE.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960002-C90F-4C56-90E7-75B93652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90950"/>
            <a:ext cx="2857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B74DF1-3377-4BE8-9A86-4C564E58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814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7C66"/>
                </a:solidFill>
              </a:defRPr>
            </a:pPr>
            <a:r>
              <a:rPr sz="1650" b="1">
                <a:solidFill>
                  <a:srgbClr val="0E7C66"/>
                </a:solidFill>
              </a:rPr>
              <a:t>Realistic method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F6D58B-1709-4B64-B99E-0EEEF19E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434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48h rolling + 3 scenarios is the headline controller.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236E99-88F1-441E-978F-60469AEE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90950"/>
            <a:ext cx="2857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404B44-E943-4F46-AC4F-2F5C3169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814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Upper bound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6628A4-6A7D-4FA8-825E-83FE2175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4340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Oracle is only the perfect-future comparison.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34B1C2-7233-4FF9-B54F-35B48D55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BFF34A-C4E0-43CB-90BD-2D7DA971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DEFF85-530A-4671-A1EC-BD76C08C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50814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8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95BAD5-F78F-4987-A1AD-B0AEABB2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Finished research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77146-9D55-4C96-990A-E1BC414F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DE7"/>
                </a:solidFill>
              </a:defRPr>
            </a:pPr>
            <a:r>
              <a:rPr sz="1650" b="0">
                <a:solidFill>
                  <a:srgbClr val="D7EDE7"/>
                </a:solidFill>
              </a:rPr>
              <a:t>The strongest story is not just that Gurobi optimizes dispatch. It is that forecast quality, replanning horizon, uncertainty scenarios, and storage constraints must be evaluated together.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90BAF-6521-4DCD-BAB1-267A2415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31432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983E9-4AEA-4991-9C12-871C752F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AA009-00A6-4982-9342-07DA8DE1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Proposed contribution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277F8-AC4E-4125-949A-4919504E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8194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A reproducible forecast-aware rolling-horizon dispatch pipeline for hybrid wind + CAES under explicit operational constraints.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E648D-D49C-4A69-87E7-DBBFB14C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FC276-5B5A-4D3B-A502-273763DB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313E0-E7E6-41A1-A595-1CC7FB04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574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9DB74-ECAE-4A17-B460-04C56B86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00350"/>
            <a:ext cx="28194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Causal ridge wins the forecast test; 48h wins deterministic dispatch; 3 scenarios gives the best scenario result; oracle shows the remaining ceiling.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06B34-3164-430D-BC27-5C196399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31432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B1186-F312-40CE-B9EA-FCAEE0DA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6C348-3C7C-40A5-98E0-772673BA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574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Now the work shifts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0A6C0-77EE-45F5-B181-8C476FD0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0350"/>
            <a:ext cx="28194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The computational package is finished enough to start writing the paper and building the poster from the frozen ladder.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CA72B-10A0-4AC4-9BEA-C9D9F6DA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Bottom line: the final paper and poster should explain the ladder, show the finished numbers, and clearly state that DAM/proxy data are not part of the headline result.</a:t>
            </a:r>
          </a:p>
        </p:txBody>
      </p:sp>
    </p:spTree>
    <p:extLst>
      <p:ext uri="{BB962C8B-B14F-4D97-AF65-F5344CB8AC3E}">
        <p14:creationId xmlns:p14="http://schemas.microsoft.com/office/powerpoint/2010/main" val="836463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2026-07-21T00:08:12.8490000Z</dcterms:created>
  <dcterms:modified xsi:type="dcterms:W3CDTF">2026-07-21T00:08:12.8490000Z</dcterms:modified>
</coreProperties>
</file>